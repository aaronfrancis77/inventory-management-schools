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4000" cy="30276000"/>
  <p:notesSz cx="30276000" cy="2138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teal"/>
          <p:cNvSpPr/>
          <p:nvPr/>
        </p:nvSpPr>
        <p:spPr>
          <a:xfrm>
            <a:off x="-4680000" y="-5040000"/>
            <a:ext cx="10080000" cy="10080000"/>
          </a:xfrm>
          <a:prstGeom prst="ellipse">
            <a:avLst/>
          </a:prstGeom>
          <a:solidFill>
            <a:srgbClr val="009CA6">
              <a:alpha val="8000"/>
            </a:srgbClr>
          </a:solidFill>
          <a:ln/>
        </p:spPr>
      </p:sp>
      <p:sp>
        <p:nvSpPr>
          <p:cNvPr id="3" name="Decor purple"/>
          <p:cNvSpPr/>
          <p:nvPr/>
        </p:nvSpPr>
        <p:spPr>
          <a:xfrm>
            <a:off x="18504000" y="11880000"/>
            <a:ext cx="7920000" cy="7920000"/>
          </a:xfrm>
          <a:prstGeom prst="ellipse">
            <a:avLst/>
          </a:prstGeom>
          <a:solidFill>
            <a:srgbClr val="7B57CB">
              <a:alpha val="6000"/>
            </a:srgbClr>
          </a:solidFill>
          <a:ln/>
        </p:spPr>
      </p:sp>
      <p:sp>
        <p:nvSpPr>
          <p:cNvPr id="4" name="Decor pink"/>
          <p:cNvSpPr/>
          <p:nvPr/>
        </p:nvSpPr>
        <p:spPr>
          <a:xfrm>
            <a:off x="-5040000" y="20160000"/>
            <a:ext cx="7200000" cy="7200000"/>
          </a:xfrm>
          <a:prstGeom prst="ellipse">
            <a:avLst/>
          </a:prstGeom>
          <a:solidFill>
            <a:srgbClr val="D62598">
              <a:alpha val="5000"/>
            </a:srgbClr>
          </a:solidFill>
          <a:ln/>
        </p:spPr>
      </p:sp>
      <p:pic>
        <p:nvPicPr>
          <p:cNvPr id="5" name="Daymap logo" descr="C:\Users\Aaron\AppData\Local\Temp\claude\C--Users-Aaron-Desktop-ict30017-P01-inventory-management-schools\97f81feb-cc42-48d2-a7dc-9fa67447c472\scratchpad\pptx\day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000" y="1008000"/>
            <a:ext cx="2282400" cy="792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456000" y="1116000"/>
            <a:ext cx="360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800" dirty="0"/>
          </a:p>
        </p:txBody>
      </p:sp>
      <p:pic>
        <p:nvPicPr>
          <p:cNvPr id="7" name="Civica logo" descr="C:\Users\Aaron\AppData\Local\Temp\claude\C--Users-Aaron-Desktop-ict30017-P01-inventory-management-schools\97f81feb-cc42-48d2-a7dc-9fa67447c472\scratchpad\pptx\civi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0" y="1080000"/>
            <a:ext cx="1447200" cy="648000"/>
          </a:xfrm>
          <a:prstGeom prst="rect">
            <a:avLst/>
          </a:prstGeom>
        </p:spPr>
      </p:pic>
      <p:sp>
        <p:nvSpPr>
          <p:cNvPr id="8" name="Title"/>
          <p:cNvSpPr txBox="1"/>
          <p:nvPr/>
        </p:nvSpPr>
        <p:spPr>
          <a:xfrm>
            <a:off x="936000" y="1944000"/>
            <a:ext cx="17280000" cy="16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0" b="1" spc="-30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Daymap </a:t>
            </a:r>
            <a:pPr indent="0" marL="0">
              <a:buNone/>
            </a:pPr>
            <a:r>
              <a:rPr lang="en-US" sz="11800" b="1" spc="-3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1800" dirty="0"/>
          </a:p>
        </p:txBody>
      </p:sp>
      <p:sp>
        <p:nvSpPr>
          <p:cNvPr id="9" name="Tagline"/>
          <p:cNvSpPr txBox="1"/>
          <p:nvPr/>
        </p:nvSpPr>
        <p:spPr>
          <a:xfrm>
            <a:off x="1008000" y="3636000"/>
            <a:ext cx="1692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laptop, lab kit and loan, </a:t>
            </a:r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7B5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in one place</a:t>
            </a:r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school inventory system built for Civica's Daymap platform.</a:t>
            </a:r>
            <a:endParaRPr lang="en-US" sz="3400" dirty="0"/>
          </a:p>
        </p:txBody>
      </p:sp>
      <p:pic>
        <p:nvPicPr>
          <p:cNvPr id="10" name="Swinburne logo (keep top-right)" descr="C:/Users/Aaron/Desktop/ict30017-P01/inventory-management-schools/docs/poster/logos/swinbur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0000" y="1008000"/>
            <a:ext cx="1656000" cy="3308499"/>
          </a:xfrm>
          <a:prstGeom prst="rect">
            <a:avLst/>
          </a:prstGeom>
        </p:spPr>
      </p:pic>
      <p:sp>
        <p:nvSpPr>
          <p:cNvPr id="11" name="THE PROBLEM heading"/>
          <p:cNvSpPr txBox="1"/>
          <p:nvPr/>
        </p:nvSpPr>
        <p:spPr>
          <a:xfrm>
            <a:off x="1008000" y="5328000"/>
            <a:ext cx="13680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b="1" dirty="0">
                <a:solidFill>
                  <a:srgbClr val="D62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5200" b="1" spc="100" kern="0" dirty="0">
                <a:solidFill>
                  <a:srgbClr val="D62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6400" dirty="0"/>
          </a:p>
        </p:txBody>
      </p:sp>
      <p:sp>
        <p:nvSpPr>
          <p:cNvPr id="12" name="Text 7"/>
          <p:cNvSpPr txBox="1"/>
          <p:nvPr/>
        </p:nvSpPr>
        <p:spPr>
          <a:xfrm>
            <a:off x="13680000" y="5328000"/>
            <a:ext cx="6696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we addressing?</a:t>
            </a:r>
            <a:endParaRPr lang="en-US" sz="2800" dirty="0"/>
          </a:p>
        </p:txBody>
      </p:sp>
      <p:sp>
        <p:nvSpPr>
          <p:cNvPr id="13" name="Problem lead"/>
          <p:cNvSpPr txBox="1"/>
          <p:nvPr/>
        </p:nvSpPr>
        <p:spPr>
          <a:xfrm>
            <a:off x="1008000" y="6444000"/>
            <a:ext cx="19368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track thousands of shared items with spreadsheets, paper and memory.</a:t>
            </a:r>
            <a:endParaRPr lang="en-US" sz="3000" dirty="0"/>
          </a:p>
        </p:txBody>
      </p:sp>
      <p:sp>
        <p:nvSpPr>
          <p:cNvPr id="14" name="Shape 9"/>
          <p:cNvSpPr/>
          <p:nvPr/>
        </p:nvSpPr>
        <p:spPr>
          <a:xfrm>
            <a:off x="1008000" y="7200000"/>
            <a:ext cx="4716000" cy="1692000"/>
          </a:xfrm>
          <a:prstGeom prst="roundRect">
            <a:avLst>
              <a:gd name="adj" fmla="val 4255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5" name="Pain: Items go missing"/>
          <p:cNvSpPr txBox="1"/>
          <p:nvPr/>
        </p:nvSpPr>
        <p:spPr>
          <a:xfrm>
            <a:off x="1224000" y="7380000"/>
            <a:ext cx="4320000" cy="14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go missing</a:t>
            </a:r>
            <a:endParaRPr lang="en-US" sz="2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knows who borrowed what.</a:t>
            </a:r>
            <a:endParaRPr lang="en-US" sz="2700" dirty="0"/>
          </a:p>
        </p:txBody>
      </p:sp>
      <p:sp>
        <p:nvSpPr>
          <p:cNvPr id="16" name="Shape 11"/>
          <p:cNvSpPr/>
          <p:nvPr/>
        </p:nvSpPr>
        <p:spPr>
          <a:xfrm>
            <a:off x="5904000" y="7200000"/>
            <a:ext cx="4716000" cy="1692000"/>
          </a:xfrm>
          <a:prstGeom prst="roundRect">
            <a:avLst>
              <a:gd name="adj" fmla="val 4255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7" name="Pain: Stock expires"/>
          <p:cNvSpPr txBox="1"/>
          <p:nvPr/>
        </p:nvSpPr>
        <p:spPr>
          <a:xfrm>
            <a:off x="6120000" y="7380000"/>
            <a:ext cx="4320000" cy="14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expires</a:t>
            </a:r>
            <a:endParaRPr lang="en-US" sz="2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First-aid kits and chemicals go out of date.</a:t>
            </a:r>
            <a:endParaRPr lang="en-US" sz="2700" dirty="0"/>
          </a:p>
        </p:txBody>
      </p:sp>
      <p:sp>
        <p:nvSpPr>
          <p:cNvPr id="18" name="Shape 13"/>
          <p:cNvSpPr/>
          <p:nvPr/>
        </p:nvSpPr>
        <p:spPr>
          <a:xfrm>
            <a:off x="1008000" y="9036000"/>
            <a:ext cx="4716000" cy="1692000"/>
          </a:xfrm>
          <a:prstGeom prst="roundRect">
            <a:avLst>
              <a:gd name="adj" fmla="val 4255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9" name="Pain: No single view"/>
          <p:cNvSpPr txBox="1"/>
          <p:nvPr/>
        </p:nvSpPr>
        <p:spPr>
          <a:xfrm>
            <a:off x="1224000" y="9216000"/>
            <a:ext cx="4320000" cy="14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view</a:t>
            </a:r>
            <a:endParaRPr lang="en-US" sz="2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is spread across rooms and campuses.</a:t>
            </a:r>
            <a:endParaRPr lang="en-US" sz="2700" dirty="0"/>
          </a:p>
        </p:txBody>
      </p:sp>
      <p:sp>
        <p:nvSpPr>
          <p:cNvPr id="20" name="Shape 15"/>
          <p:cNvSpPr/>
          <p:nvPr/>
        </p:nvSpPr>
        <p:spPr>
          <a:xfrm>
            <a:off x="5904000" y="9036000"/>
            <a:ext cx="4716000" cy="1692000"/>
          </a:xfrm>
          <a:prstGeom prst="roundRect">
            <a:avLst>
              <a:gd name="adj" fmla="val 4255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21" name="Pain: One size doesn't fit"/>
          <p:cNvSpPr txBox="1"/>
          <p:nvPr/>
        </p:nvSpPr>
        <p:spPr>
          <a:xfrm>
            <a:off x="6120000" y="9216000"/>
            <a:ext cx="4320000" cy="14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size doesn't fit</a:t>
            </a:r>
            <a:endParaRPr lang="en-US" sz="2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violin and an iPad need different details.</a:t>
            </a:r>
            <a:endParaRPr lang="en-US" sz="2700" dirty="0"/>
          </a:p>
        </p:txBody>
      </p:sp>
      <p:sp>
        <p:nvSpPr>
          <p:cNvPr id="22" name="Shape 17"/>
          <p:cNvSpPr/>
          <p:nvPr/>
        </p:nvSpPr>
        <p:spPr>
          <a:xfrm>
            <a:off x="10980000" y="7200000"/>
            <a:ext cx="9396000" cy="3528000"/>
          </a:xfrm>
          <a:prstGeom prst="roundRect">
            <a:avLst>
              <a:gd name="adj" fmla="val 4082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pic>
        <p:nvPicPr>
          <p:cNvPr id="23" name="Before picture" descr="C:\Users\Aaron\AppData\Local\Temp\claude\C--Users-Aaron-Desktop-ict30017-P01-inventory-management-schools\97f81feb-cc42-48d2-a7dc-9fa67447c472\scratchpad\pptx\before_on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0000" y="7272000"/>
            <a:ext cx="9036000" cy="3373440"/>
          </a:xfrm>
          <a:prstGeom prst="rect">
            <a:avLst/>
          </a:prstGeom>
        </p:spPr>
      </p:pic>
      <p:sp>
        <p:nvSpPr>
          <p:cNvPr id="24" name="THE PROCESS heading"/>
          <p:cNvSpPr txBox="1"/>
          <p:nvPr/>
        </p:nvSpPr>
        <p:spPr>
          <a:xfrm>
            <a:off x="1008000" y="11304000"/>
            <a:ext cx="13680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b="1" dirty="0">
                <a:solidFill>
                  <a:srgbClr val="7B5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5200" b="1" spc="100" kern="0" dirty="0">
                <a:solidFill>
                  <a:srgbClr val="7B5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</a:t>
            </a:r>
            <a:endParaRPr lang="en-US" sz="6400" dirty="0"/>
          </a:p>
        </p:txBody>
      </p:sp>
      <p:sp>
        <p:nvSpPr>
          <p:cNvPr id="25" name="Text 19"/>
          <p:cNvSpPr txBox="1"/>
          <p:nvPr/>
        </p:nvSpPr>
        <p:spPr>
          <a:xfrm>
            <a:off x="13680000" y="11304000"/>
            <a:ext cx="6696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did we approach it?</a:t>
            </a:r>
            <a:endParaRPr lang="en-US" sz="2800" dirty="0"/>
          </a:p>
        </p:txBody>
      </p:sp>
      <p:sp>
        <p:nvSpPr>
          <p:cNvPr id="26" name="Shape 20"/>
          <p:cNvSpPr/>
          <p:nvPr/>
        </p:nvSpPr>
        <p:spPr>
          <a:xfrm>
            <a:off x="1008000" y="12888000"/>
            <a:ext cx="19368000" cy="0"/>
          </a:xfrm>
          <a:prstGeom prst="line">
            <a:avLst/>
          </a:prstGeom>
          <a:noFill/>
          <a:ln w="50800">
            <a:solidFill>
              <a:srgbClr val="7B57C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008000" y="12438000"/>
            <a:ext cx="900000" cy="900000"/>
          </a:xfrm>
          <a:prstGeom prst="ellipse">
            <a:avLst/>
          </a:prstGeom>
          <a:solidFill>
            <a:srgbClr val="7B57CB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008000" y="12438000"/>
            <a:ext cx="9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2400" dirty="0"/>
          </a:p>
        </p:txBody>
      </p:sp>
      <p:sp>
        <p:nvSpPr>
          <p:cNvPr id="29" name="Sprint S1"/>
          <p:cNvSpPr txBox="1"/>
          <p:nvPr/>
        </p:nvSpPr>
        <p:spPr>
          <a:xfrm>
            <a:off x="1008000" y="13464000"/>
            <a:ext cx="3078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2600" dirty="0"/>
          </a:p>
        </p:txBody>
      </p:sp>
      <p:sp>
        <p:nvSpPr>
          <p:cNvPr id="30" name="Shape 24"/>
          <p:cNvSpPr/>
          <p:nvPr/>
        </p:nvSpPr>
        <p:spPr>
          <a:xfrm>
            <a:off x="4266000" y="12438000"/>
            <a:ext cx="900000" cy="900000"/>
          </a:xfrm>
          <a:prstGeom prst="ellipse">
            <a:avLst/>
          </a:prstGeom>
          <a:solidFill>
            <a:srgbClr val="7B57CB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266000" y="12438000"/>
            <a:ext cx="9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2400" dirty="0"/>
          </a:p>
        </p:txBody>
      </p:sp>
      <p:sp>
        <p:nvSpPr>
          <p:cNvPr id="32" name="Sprint S2"/>
          <p:cNvSpPr txBox="1"/>
          <p:nvPr/>
        </p:nvSpPr>
        <p:spPr>
          <a:xfrm>
            <a:off x="4266000" y="13464000"/>
            <a:ext cx="3078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</a:t>
            </a:r>
            <a:endParaRPr lang="en-US" sz="2600" dirty="0"/>
          </a:p>
        </p:txBody>
      </p:sp>
      <p:sp>
        <p:nvSpPr>
          <p:cNvPr id="33" name="Shape 27"/>
          <p:cNvSpPr/>
          <p:nvPr/>
        </p:nvSpPr>
        <p:spPr>
          <a:xfrm>
            <a:off x="7524000" y="12438000"/>
            <a:ext cx="900000" cy="900000"/>
          </a:xfrm>
          <a:prstGeom prst="ellipse">
            <a:avLst/>
          </a:prstGeom>
          <a:solidFill>
            <a:srgbClr val="7B57CB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524000" y="12438000"/>
            <a:ext cx="9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2400" dirty="0"/>
          </a:p>
        </p:txBody>
      </p:sp>
      <p:sp>
        <p:nvSpPr>
          <p:cNvPr id="35" name="Sprint S3"/>
          <p:cNvSpPr txBox="1"/>
          <p:nvPr/>
        </p:nvSpPr>
        <p:spPr>
          <a:xfrm>
            <a:off x="7524000" y="13464000"/>
            <a:ext cx="3078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fields</a:t>
            </a:r>
            <a:endParaRPr lang="en-US" sz="2600" dirty="0"/>
          </a:p>
        </p:txBody>
      </p:sp>
      <p:sp>
        <p:nvSpPr>
          <p:cNvPr id="36" name="Shape 30"/>
          <p:cNvSpPr/>
          <p:nvPr/>
        </p:nvSpPr>
        <p:spPr>
          <a:xfrm>
            <a:off x="10782000" y="12438000"/>
            <a:ext cx="900000" cy="900000"/>
          </a:xfrm>
          <a:prstGeom prst="ellipse">
            <a:avLst/>
          </a:prstGeom>
          <a:solidFill>
            <a:srgbClr val="009CA6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0782000" y="12438000"/>
            <a:ext cx="9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2400" dirty="0"/>
          </a:p>
        </p:txBody>
      </p:sp>
      <p:sp>
        <p:nvSpPr>
          <p:cNvPr id="38" name="Sprint S4"/>
          <p:cNvSpPr txBox="1"/>
          <p:nvPr/>
        </p:nvSpPr>
        <p:spPr>
          <a:xfrm>
            <a:off x="10782000" y="13464000"/>
            <a:ext cx="3078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Loans &amp; tags</a:t>
            </a:r>
            <a:endParaRPr lang="en-US" sz="2600" dirty="0"/>
          </a:p>
        </p:txBody>
      </p:sp>
      <p:sp>
        <p:nvSpPr>
          <p:cNvPr id="39" name="Shape 33"/>
          <p:cNvSpPr/>
          <p:nvPr/>
        </p:nvSpPr>
        <p:spPr>
          <a:xfrm>
            <a:off x="14040000" y="12438000"/>
            <a:ext cx="900000" cy="900000"/>
          </a:xfrm>
          <a:prstGeom prst="ellipse">
            <a:avLst/>
          </a:prstGeom>
          <a:solidFill>
            <a:srgbClr val="009CA6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14040000" y="12438000"/>
            <a:ext cx="9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2400" dirty="0"/>
          </a:p>
        </p:txBody>
      </p:sp>
      <p:sp>
        <p:nvSpPr>
          <p:cNvPr id="41" name="Sprint S5"/>
          <p:cNvSpPr txBox="1"/>
          <p:nvPr/>
        </p:nvSpPr>
        <p:spPr>
          <a:xfrm>
            <a:off x="14040000" y="13464000"/>
            <a:ext cx="3078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 &amp; search</a:t>
            </a:r>
            <a:endParaRPr lang="en-US" sz="2600" dirty="0"/>
          </a:p>
        </p:txBody>
      </p:sp>
      <p:sp>
        <p:nvSpPr>
          <p:cNvPr id="42" name="Shape 36"/>
          <p:cNvSpPr/>
          <p:nvPr/>
        </p:nvSpPr>
        <p:spPr>
          <a:xfrm>
            <a:off x="17298000" y="12438000"/>
            <a:ext cx="900000" cy="900000"/>
          </a:xfrm>
          <a:prstGeom prst="ellipse">
            <a:avLst/>
          </a:prstGeom>
          <a:solidFill>
            <a:srgbClr val="009CA6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17298000" y="12438000"/>
            <a:ext cx="9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2400" dirty="0"/>
          </a:p>
        </p:txBody>
      </p:sp>
      <p:sp>
        <p:nvSpPr>
          <p:cNvPr id="44" name="Sprint S6"/>
          <p:cNvSpPr txBox="1"/>
          <p:nvPr/>
        </p:nvSpPr>
        <p:spPr>
          <a:xfrm>
            <a:off x="17298000" y="13464000"/>
            <a:ext cx="3078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Docker</a:t>
            </a:r>
            <a:endParaRPr lang="en-US" sz="2600" dirty="0"/>
          </a:p>
        </p:txBody>
      </p:sp>
      <p:sp>
        <p:nvSpPr>
          <p:cNvPr id="45" name="How we worked"/>
          <p:cNvSpPr txBox="1"/>
          <p:nvPr/>
        </p:nvSpPr>
        <p:spPr>
          <a:xfrm>
            <a:off x="1008000" y="14112000"/>
            <a:ext cx="19368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Scrum</a:t>
            </a:r>
            <a:pPr indent="0" marL="0">
              <a:buNone/>
            </a:pPr>
            <a:r>
              <a:rPr lang="en-US" sz="2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six sprints, reviewed with our client every sprint.</a:t>
            </a:r>
            <a:endParaRPr lang="en-US" sz="2600" dirty="0"/>
          </a:p>
        </p:txBody>
      </p:sp>
      <p:sp>
        <p:nvSpPr>
          <p:cNvPr id="46" name="THE SOLUTION heading"/>
          <p:cNvSpPr txBox="1"/>
          <p:nvPr/>
        </p:nvSpPr>
        <p:spPr>
          <a:xfrm>
            <a:off x="1008000" y="15336000"/>
            <a:ext cx="13680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b="1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5200" b="1" spc="1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6400" dirty="0"/>
          </a:p>
        </p:txBody>
      </p:sp>
      <p:sp>
        <p:nvSpPr>
          <p:cNvPr id="47" name="Text 41"/>
          <p:cNvSpPr txBox="1"/>
          <p:nvPr/>
        </p:nvSpPr>
        <p:spPr>
          <a:xfrm>
            <a:off x="13680000" y="15336000"/>
            <a:ext cx="6696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develop?</a:t>
            </a:r>
            <a:endParaRPr lang="en-US" sz="2800" dirty="0"/>
          </a:p>
        </p:txBody>
      </p:sp>
      <p:sp>
        <p:nvSpPr>
          <p:cNvPr id="48" name="Shape 42"/>
          <p:cNvSpPr/>
          <p:nvPr/>
        </p:nvSpPr>
        <p:spPr>
          <a:xfrm>
            <a:off x="1008000" y="16488000"/>
            <a:ext cx="4707000" cy="1188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008000" y="16488000"/>
            <a:ext cx="4707000" cy="90000"/>
          </a:xfrm>
          <a:prstGeom prst="rect">
            <a:avLst>
              <a:gd name="adj" fmla="val 120000"/>
            </a:avLst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50" name="Feature: Track every item"/>
          <p:cNvSpPr txBox="1"/>
          <p:nvPr/>
        </p:nvSpPr>
        <p:spPr>
          <a:xfrm>
            <a:off x="1188000" y="16704000"/>
            <a:ext cx="4383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item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laptop or kit, one by one</a:t>
            </a:r>
            <a:endParaRPr lang="en-US" sz="2600" dirty="0"/>
          </a:p>
        </p:txBody>
      </p:sp>
      <p:sp>
        <p:nvSpPr>
          <p:cNvPr id="51" name="Shape 45"/>
          <p:cNvSpPr/>
          <p:nvPr/>
        </p:nvSpPr>
        <p:spPr>
          <a:xfrm>
            <a:off x="5859000" y="16488000"/>
            <a:ext cx="4707000" cy="1188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5859000" y="16488000"/>
            <a:ext cx="4707000" cy="90000"/>
          </a:xfrm>
          <a:prstGeom prst="rect">
            <a:avLst>
              <a:gd name="adj" fmla="val 120000"/>
            </a:avLst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53" name="Feature: Loans &amp; returns"/>
          <p:cNvSpPr txBox="1"/>
          <p:nvPr/>
        </p:nvSpPr>
        <p:spPr>
          <a:xfrm>
            <a:off x="6039000" y="16704000"/>
            <a:ext cx="4383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Loans &amp; returns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updates automatically</a:t>
            </a:r>
            <a:endParaRPr lang="en-US" sz="2600" dirty="0"/>
          </a:p>
        </p:txBody>
      </p:sp>
      <p:sp>
        <p:nvSpPr>
          <p:cNvPr id="54" name="Shape 48"/>
          <p:cNvSpPr/>
          <p:nvPr/>
        </p:nvSpPr>
        <p:spPr>
          <a:xfrm>
            <a:off x="1008000" y="17820000"/>
            <a:ext cx="4707000" cy="1188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1008000" y="17820000"/>
            <a:ext cx="4707000" cy="90000"/>
          </a:xfrm>
          <a:prstGeom prst="rect">
            <a:avLst>
              <a:gd name="adj" fmla="val 120000"/>
            </a:avLst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56" name="Feature: Custom fields"/>
          <p:cNvSpPr txBox="1"/>
          <p:nvPr/>
        </p:nvSpPr>
        <p:spPr>
          <a:xfrm>
            <a:off x="1188000" y="18036000"/>
            <a:ext cx="4383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fields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school adds its own</a:t>
            </a:r>
            <a:endParaRPr lang="en-US" sz="2600" dirty="0"/>
          </a:p>
        </p:txBody>
      </p:sp>
      <p:sp>
        <p:nvSpPr>
          <p:cNvPr id="57" name="Shape 51"/>
          <p:cNvSpPr/>
          <p:nvPr/>
        </p:nvSpPr>
        <p:spPr>
          <a:xfrm>
            <a:off x="5859000" y="17820000"/>
            <a:ext cx="4707000" cy="1188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5859000" y="17820000"/>
            <a:ext cx="4707000" cy="90000"/>
          </a:xfrm>
          <a:prstGeom prst="rect">
            <a:avLst>
              <a:gd name="adj" fmla="val 120000"/>
            </a:avLst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59" name="Feature: Expiry alerts"/>
          <p:cNvSpPr txBox="1"/>
          <p:nvPr/>
        </p:nvSpPr>
        <p:spPr>
          <a:xfrm>
            <a:off x="6039000" y="18036000"/>
            <a:ext cx="4383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 alerts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out-of-date stock</a:t>
            </a:r>
            <a:endParaRPr lang="en-US" sz="2600" dirty="0"/>
          </a:p>
        </p:txBody>
      </p:sp>
      <p:sp>
        <p:nvSpPr>
          <p:cNvPr id="60" name="Shape 54"/>
          <p:cNvSpPr/>
          <p:nvPr/>
        </p:nvSpPr>
        <p:spPr>
          <a:xfrm>
            <a:off x="1008000" y="19188000"/>
            <a:ext cx="4707000" cy="1188000"/>
          </a:xfrm>
          <a:prstGeom prst="roundRect">
            <a:avLst>
              <a:gd name="adj" fmla="val 12121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1" name="Stat 40"/>
          <p:cNvSpPr txBox="1"/>
          <p:nvPr/>
        </p:nvSpPr>
        <p:spPr>
          <a:xfrm>
            <a:off x="1224000" y="19188000"/>
            <a:ext cx="4347000" cy="11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F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 </a:t>
            </a:r>
            <a:pPr indent="0" marL="0">
              <a:buNone/>
            </a:pPr>
            <a:r>
              <a:rPr lang="en-US" sz="2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6000" dirty="0"/>
          </a:p>
        </p:txBody>
      </p:sp>
      <p:sp>
        <p:nvSpPr>
          <p:cNvPr id="62" name="Shape 56"/>
          <p:cNvSpPr/>
          <p:nvPr/>
        </p:nvSpPr>
        <p:spPr>
          <a:xfrm>
            <a:off x="5859000" y="19188000"/>
            <a:ext cx="4707000" cy="1188000"/>
          </a:xfrm>
          <a:prstGeom prst="roundRect">
            <a:avLst>
              <a:gd name="adj" fmla="val 12121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3" name="Stat 105"/>
          <p:cNvSpPr txBox="1"/>
          <p:nvPr/>
        </p:nvSpPr>
        <p:spPr>
          <a:xfrm>
            <a:off x="6075000" y="19188000"/>
            <a:ext cx="4347000" cy="11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4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 </a:t>
            </a:r>
            <a:pPr indent="0" marL="0">
              <a:buNone/>
            </a:pPr>
            <a:r>
              <a:rPr lang="en-US" sz="2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tests</a:t>
            </a:r>
            <a:endParaRPr lang="en-US" sz="6000" dirty="0"/>
          </a:p>
        </p:txBody>
      </p:sp>
      <p:sp>
        <p:nvSpPr>
          <p:cNvPr id="64" name="Shape 58"/>
          <p:cNvSpPr/>
          <p:nvPr/>
        </p:nvSpPr>
        <p:spPr>
          <a:xfrm>
            <a:off x="10818000" y="16488000"/>
            <a:ext cx="9558000" cy="3681593"/>
          </a:xfrm>
          <a:prstGeom prst="roundRect">
            <a:avLst>
              <a:gd name="adj" fmla="val 3911"/>
            </a:avLst>
          </a:prstGeom>
          <a:solidFill>
            <a:srgbClr val="FAFAFA"/>
          </a:solidFill>
          <a:ln w="19050">
            <a:solidFill>
              <a:srgbClr val="CFD4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65" name="Shape 59"/>
          <p:cNvSpPr/>
          <p:nvPr/>
        </p:nvSpPr>
        <p:spPr>
          <a:xfrm>
            <a:off x="10818000" y="16488000"/>
            <a:ext cx="9558000" cy="432000"/>
          </a:xfrm>
          <a:prstGeom prst="roundRect">
            <a:avLst>
              <a:gd name="adj" fmla="val 33333"/>
            </a:avLst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10818000" y="16704000"/>
            <a:ext cx="9558000" cy="216000"/>
          </a:xfrm>
          <a:prstGeom prst="rect">
            <a:avLst>
              <a:gd name="adj" fmla="val 50000"/>
            </a:avLst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10998000" y="16623000"/>
            <a:ext cx="162000" cy="1620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8" name="Shape 62"/>
          <p:cNvSpPr/>
          <p:nvPr/>
        </p:nvSpPr>
        <p:spPr>
          <a:xfrm>
            <a:off x="11250000" y="16623000"/>
            <a:ext cx="162000" cy="16200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9" name="Shape 63"/>
          <p:cNvSpPr/>
          <p:nvPr/>
        </p:nvSpPr>
        <p:spPr>
          <a:xfrm>
            <a:off x="11502000" y="16623000"/>
            <a:ext cx="162000" cy="1620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70" name="Text 64"/>
          <p:cNvSpPr txBox="1"/>
          <p:nvPr/>
        </p:nvSpPr>
        <p:spPr>
          <a:xfrm>
            <a:off x="11898000" y="16488000"/>
            <a:ext cx="720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live API (Swagger)</a:t>
            </a:r>
            <a:endParaRPr lang="en-US" sz="2200" dirty="0"/>
          </a:p>
        </p:txBody>
      </p:sp>
      <p:pic>
        <p:nvPicPr>
          <p:cNvPr id="71" name="Swagger screenshot" descr="C:\Users\Aaron\AppData\Local\Temp\claude\C--Users-Aaron-Desktop-ict30017-P01-inventory-management-schools\97f81feb-cc42-48d2-a7dc-9fa67447c472\scratchpad\pptx\swagger_3row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6000" y="16920000"/>
            <a:ext cx="9522000" cy="3231593"/>
          </a:xfrm>
          <a:prstGeom prst="rect">
            <a:avLst/>
          </a:prstGeom>
        </p:spPr>
      </p:pic>
      <p:sp>
        <p:nvSpPr>
          <p:cNvPr id="72" name="Text 65"/>
          <p:cNvSpPr txBox="1"/>
          <p:nvPr/>
        </p:nvSpPr>
        <p:spPr>
          <a:xfrm>
            <a:off x="10818000" y="20304000"/>
            <a:ext cx="955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expiring and expired items, live</a:t>
            </a:r>
            <a:endParaRPr lang="en-US" sz="2200" dirty="0"/>
          </a:p>
        </p:txBody>
      </p:sp>
      <p:sp>
        <p:nvSpPr>
          <p:cNvPr id="73" name="Shape 66"/>
          <p:cNvSpPr/>
          <p:nvPr/>
        </p:nvSpPr>
        <p:spPr>
          <a:xfrm>
            <a:off x="1008000" y="21816000"/>
            <a:ext cx="19368000" cy="4896000"/>
          </a:xfrm>
          <a:prstGeom prst="roundRect">
            <a:avLst>
              <a:gd name="adj" fmla="val 3676"/>
            </a:avLst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74" name="Benefits heading"/>
          <p:cNvSpPr txBox="1"/>
          <p:nvPr/>
        </p:nvSpPr>
        <p:spPr>
          <a:xfrm>
            <a:off x="1440000" y="22104000"/>
            <a:ext cx="14400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SCHOOLS GAIN</a:t>
            </a:r>
            <a:endParaRPr lang="en-US" sz="4400" dirty="0"/>
          </a:p>
        </p:txBody>
      </p:sp>
      <p:sp>
        <p:nvSpPr>
          <p:cNvPr id="75" name="Shape 68"/>
          <p:cNvSpPr/>
          <p:nvPr/>
        </p:nvSpPr>
        <p:spPr>
          <a:xfrm>
            <a:off x="1440000" y="23112000"/>
            <a:ext cx="5928000" cy="3240000"/>
          </a:xfrm>
          <a:prstGeom prst="roundRect">
            <a:avLst>
              <a:gd name="adj" fmla="val 4444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6" name="Text 69"/>
          <p:cNvSpPr txBox="1"/>
          <p:nvPr/>
        </p:nvSpPr>
        <p:spPr>
          <a:xfrm>
            <a:off x="1692000" y="23220000"/>
            <a:ext cx="720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77" name="Benefit: Save staff time"/>
          <p:cNvSpPr txBox="1"/>
          <p:nvPr/>
        </p:nvSpPr>
        <p:spPr>
          <a:xfrm>
            <a:off x="1692000" y="24120000"/>
            <a:ext cx="5424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staff time</a:t>
            </a:r>
            <a:endParaRPr lang="en-US" sz="34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who has any item and when it's due back.</a:t>
            </a:r>
            <a:endParaRPr lang="en-US" sz="3400" dirty="0"/>
          </a:p>
        </p:txBody>
      </p:sp>
      <p:sp>
        <p:nvSpPr>
          <p:cNvPr id="78" name="Shape 71"/>
          <p:cNvSpPr/>
          <p:nvPr/>
        </p:nvSpPr>
        <p:spPr>
          <a:xfrm>
            <a:off x="7728000" y="23112000"/>
            <a:ext cx="5928000" cy="3240000"/>
          </a:xfrm>
          <a:prstGeom prst="roundRect">
            <a:avLst>
              <a:gd name="adj" fmla="val 4444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9" name="Text 72"/>
          <p:cNvSpPr txBox="1"/>
          <p:nvPr/>
        </p:nvSpPr>
        <p:spPr>
          <a:xfrm>
            <a:off x="7980000" y="23220000"/>
            <a:ext cx="720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80" name="Benefit: Fewer losses"/>
          <p:cNvSpPr txBox="1"/>
          <p:nvPr/>
        </p:nvSpPr>
        <p:spPr>
          <a:xfrm>
            <a:off x="7980000" y="24120000"/>
            <a:ext cx="5424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losses</a:t>
            </a:r>
            <a:endParaRPr lang="en-US" sz="34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loans and expiring stock are flagged early.</a:t>
            </a:r>
            <a:endParaRPr lang="en-US" sz="3400" dirty="0"/>
          </a:p>
        </p:txBody>
      </p:sp>
      <p:sp>
        <p:nvSpPr>
          <p:cNvPr id="81" name="Shape 74"/>
          <p:cNvSpPr/>
          <p:nvPr/>
        </p:nvSpPr>
        <p:spPr>
          <a:xfrm>
            <a:off x="14016000" y="23112000"/>
            <a:ext cx="5928000" cy="3240000"/>
          </a:xfrm>
          <a:prstGeom prst="roundRect">
            <a:avLst>
              <a:gd name="adj" fmla="val 4444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2" name="Text 75"/>
          <p:cNvSpPr txBox="1"/>
          <p:nvPr/>
        </p:nvSpPr>
        <p:spPr>
          <a:xfrm>
            <a:off x="14268000" y="23220000"/>
            <a:ext cx="720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83" name="Benefit: One trusted record"/>
          <p:cNvSpPr txBox="1"/>
          <p:nvPr/>
        </p:nvSpPr>
        <p:spPr>
          <a:xfrm>
            <a:off x="14268000" y="24120000"/>
            <a:ext cx="5424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trusted record</a:t>
            </a:r>
            <a:endParaRPr lang="en-US" sz="34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on every campus, set up the way each school works.</a:t>
            </a:r>
            <a:endParaRPr lang="en-US" sz="3400" dirty="0"/>
          </a:p>
        </p:txBody>
      </p:sp>
      <p:sp>
        <p:nvSpPr>
          <p:cNvPr id="84" name="Shape 77"/>
          <p:cNvSpPr/>
          <p:nvPr/>
        </p:nvSpPr>
        <p:spPr>
          <a:xfrm>
            <a:off x="1008000" y="27396000"/>
            <a:ext cx="19368000" cy="0"/>
          </a:xfrm>
          <a:prstGeom prst="line">
            <a:avLst/>
          </a:prstGeom>
          <a:noFill/>
          <a:ln w="29210">
            <a:solidFill>
              <a:srgbClr val="DDDDDD"/>
            </a:solidFill>
            <a:prstDash val="solid"/>
          </a:ln>
        </p:spPr>
      </p:sp>
      <p:sp>
        <p:nvSpPr>
          <p:cNvPr id="85" name="TEAM P01"/>
          <p:cNvSpPr txBox="1"/>
          <p:nvPr/>
        </p:nvSpPr>
        <p:spPr>
          <a:xfrm>
            <a:off x="1008000" y="27936000"/>
            <a:ext cx="9000000" cy="13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spc="15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P01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Aaron Francis · Sarah Agate · Shreyas Cheguri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 Kiu Cheung · Thivyaaharan Parthiepan · Antonio Prince</a:t>
            </a:r>
            <a:endParaRPr lang="en-US" sz="2200" dirty="0"/>
          </a:p>
        </p:txBody>
      </p:sp>
      <p:sp>
        <p:nvSpPr>
          <p:cNvPr id="86" name="SUPERVISOR"/>
          <p:cNvSpPr txBox="1"/>
          <p:nvPr/>
        </p:nvSpPr>
        <p:spPr>
          <a:xfrm>
            <a:off x="10260000" y="27936000"/>
            <a:ext cx="3600000" cy="13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spc="15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Naveed Ali</a:t>
            </a:r>
            <a:endParaRPr lang="en-US" sz="2200" dirty="0"/>
          </a:p>
        </p:txBody>
      </p:sp>
      <p:sp>
        <p:nvSpPr>
          <p:cNvPr id="87" name="CLIENT"/>
          <p:cNvSpPr txBox="1"/>
          <p:nvPr/>
        </p:nvSpPr>
        <p:spPr>
          <a:xfrm>
            <a:off x="14256000" y="27936000"/>
            <a:ext cx="3960000" cy="13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spc="15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Harry Macheda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Civica (Daymap)</a:t>
            </a:r>
            <a:endParaRPr lang="en-US" sz="2200" dirty="0"/>
          </a:p>
        </p:txBody>
      </p:sp>
      <p:sp>
        <p:nvSpPr>
          <p:cNvPr id="88" name="Shape 81"/>
          <p:cNvSpPr/>
          <p:nvPr/>
        </p:nvSpPr>
        <p:spPr>
          <a:xfrm>
            <a:off x="18720000" y="27612000"/>
            <a:ext cx="1656000" cy="1656000"/>
          </a:xfrm>
          <a:prstGeom prst="rect">
            <a:avLst>
              <a:gd name="adj" fmla="val 6522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89" name="Category code (keep bottom-right)"/>
          <p:cNvSpPr txBox="1"/>
          <p:nvPr/>
        </p:nvSpPr>
        <p:spPr>
          <a:xfrm>
            <a:off x="18720000" y="27612000"/>
            <a:ext cx="1656000" cy="16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UG_ICT_P01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UG_ICT_P01 Poster</dc:title>
  <dc:subject>PptxGenJS Presentation</dc:subject>
  <dc:creator>Team UG_ICT_P01</dc:creator>
  <cp:lastModifiedBy>Team UG_ICT_P01</cp:lastModifiedBy>
  <cp:revision>1</cp:revision>
  <dcterms:created xsi:type="dcterms:W3CDTF">2026-10-17T12:46:05Z</dcterms:created>
  <dcterms:modified xsi:type="dcterms:W3CDTF">2026-10-17T12:46:05Z</dcterms:modified>
</cp:coreProperties>
</file>
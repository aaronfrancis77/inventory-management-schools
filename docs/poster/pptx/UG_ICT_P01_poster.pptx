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4000" cy="30276000"/>
  <p:notesSz cx="30276000" cy="2138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teal"/>
          <p:cNvSpPr/>
          <p:nvPr/>
        </p:nvSpPr>
        <p:spPr>
          <a:xfrm>
            <a:off x="-4680000" y="-5040000"/>
            <a:ext cx="10080000" cy="10080000"/>
          </a:xfrm>
          <a:prstGeom prst="ellipse">
            <a:avLst/>
          </a:prstGeom>
          <a:solidFill>
            <a:srgbClr val="009CA6">
              <a:alpha val="8000"/>
            </a:srgbClr>
          </a:solidFill>
          <a:ln/>
        </p:spPr>
      </p:sp>
      <p:sp>
        <p:nvSpPr>
          <p:cNvPr id="3" name="Decor purple"/>
          <p:cNvSpPr/>
          <p:nvPr/>
        </p:nvSpPr>
        <p:spPr>
          <a:xfrm>
            <a:off x="18504000" y="12960000"/>
            <a:ext cx="7920000" cy="7920000"/>
          </a:xfrm>
          <a:prstGeom prst="ellipse">
            <a:avLst/>
          </a:prstGeom>
          <a:solidFill>
            <a:srgbClr val="7B57CB">
              <a:alpha val="6000"/>
            </a:srgbClr>
          </a:solidFill>
          <a:ln/>
        </p:spPr>
      </p:sp>
      <p:sp>
        <p:nvSpPr>
          <p:cNvPr id="4" name="Decor pink"/>
          <p:cNvSpPr/>
          <p:nvPr/>
        </p:nvSpPr>
        <p:spPr>
          <a:xfrm>
            <a:off x="-5040000" y="21996000"/>
            <a:ext cx="7200000" cy="7200000"/>
          </a:xfrm>
          <a:prstGeom prst="ellipse">
            <a:avLst/>
          </a:prstGeom>
          <a:solidFill>
            <a:srgbClr val="D62598">
              <a:alpha val="5000"/>
            </a:srgbClr>
          </a:solidFill>
          <a:ln/>
        </p:spPr>
      </p:sp>
      <p:pic>
        <p:nvPicPr>
          <p:cNvPr id="5" name="Daymap logo" descr="C:\Users\Aaron\AppData\Local\Temp\claude\C--Users-Aaron-Desktop-ict30017-P01-inventory-management-schools\97f81feb-cc42-48d2-a7dc-9fa67447c472\scratchpad\pptx\day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000" y="1008000"/>
            <a:ext cx="2282400" cy="79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56000" y="1116000"/>
            <a:ext cx="36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800" dirty="0"/>
          </a:p>
        </p:txBody>
      </p:sp>
      <p:pic>
        <p:nvPicPr>
          <p:cNvPr id="7" name="Civica logo" descr="C:\Users\Aaron\AppData\Local\Temp\claude\C--Users-Aaron-Desktop-ict30017-P01-inventory-management-schools\97f81feb-cc42-48d2-a7dc-9fa67447c472\scratchpad\pptx\civi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000" y="1080000"/>
            <a:ext cx="1447200" cy="648000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936000" y="1944000"/>
            <a:ext cx="17280000" cy="16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0" b="1" spc="-300" kern="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Daymap </a:t>
            </a:r>
            <a:pPr indent="0" marL="0">
              <a:buNone/>
            </a:pPr>
            <a:r>
              <a:rPr lang="en-US" sz="11800" b="1" spc="-300" kern="0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11800" dirty="0"/>
          </a:p>
        </p:txBody>
      </p:sp>
      <p:sp>
        <p:nvSpPr>
          <p:cNvPr id="9" name="Tagline"/>
          <p:cNvSpPr txBox="1"/>
          <p:nvPr/>
        </p:nvSpPr>
        <p:spPr>
          <a:xfrm>
            <a:off x="1008000" y="3636000"/>
            <a:ext cx="16920000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laptop, lab kit and loan, </a:t>
            </a:r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7B57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in one place</a:t>
            </a:r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school inventory system built for Civica's Daymap platform.</a:t>
            </a:r>
            <a:endParaRPr lang="en-US" sz="3400" dirty="0"/>
          </a:p>
        </p:txBody>
      </p:sp>
      <p:pic>
        <p:nvPicPr>
          <p:cNvPr id="10" name="Swinburne logo (keep top-right)" descr="C:/Users/Aaron/Desktop/ict30017-P01/inventory-management-schools/docs/poster/logos/swinbur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20000" y="1008000"/>
            <a:ext cx="1656000" cy="3308499"/>
          </a:xfrm>
          <a:prstGeom prst="rect">
            <a:avLst/>
          </a:prstGeom>
        </p:spPr>
      </p:pic>
      <p:sp>
        <p:nvSpPr>
          <p:cNvPr id="11" name="THE PROBLEM heading"/>
          <p:cNvSpPr txBox="1"/>
          <p:nvPr/>
        </p:nvSpPr>
        <p:spPr>
          <a:xfrm>
            <a:off x="1008000" y="4896000"/>
            <a:ext cx="13680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D625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5200" b="1" spc="100" kern="0" dirty="0">
                <a:solidFill>
                  <a:srgbClr val="D625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6400" dirty="0"/>
          </a:p>
        </p:txBody>
      </p:sp>
      <p:sp>
        <p:nvSpPr>
          <p:cNvPr id="12" name="Text 7"/>
          <p:cNvSpPr txBox="1"/>
          <p:nvPr/>
        </p:nvSpPr>
        <p:spPr>
          <a:xfrm>
            <a:off x="13680000" y="4896000"/>
            <a:ext cx="669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we addressing?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1008000" y="5940000"/>
            <a:ext cx="19368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manage thousands of shared assets with spreadsheets, paper sign-out sheets and memory.</a:t>
            </a:r>
            <a:endParaRPr lang="en-US" sz="3000" dirty="0"/>
          </a:p>
        </p:txBody>
      </p:sp>
      <p:sp>
        <p:nvSpPr>
          <p:cNvPr id="14" name="Shape 9"/>
          <p:cNvSpPr/>
          <p:nvPr/>
        </p:nvSpPr>
        <p:spPr>
          <a:xfrm>
            <a:off x="1008000" y="6588000"/>
            <a:ext cx="4707000" cy="1476000"/>
          </a:xfrm>
          <a:prstGeom prst="roundRect">
            <a:avLst>
              <a:gd name="adj" fmla="val 487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008000" y="6588000"/>
            <a:ext cx="90000" cy="1476000"/>
          </a:xfrm>
          <a:prstGeom prst="rect">
            <a:avLst>
              <a:gd name="adj" fmla="val 120000"/>
            </a:avLst>
          </a:prstGeom>
          <a:solidFill>
            <a:srgbClr val="D62598"/>
          </a:solidFill>
          <a:ln w="12700">
            <a:solidFill>
              <a:srgbClr val="D62598"/>
            </a:solidFill>
            <a:prstDash val="solid"/>
          </a:ln>
        </p:spPr>
      </p:sp>
      <p:sp>
        <p:nvSpPr>
          <p:cNvPr id="16" name="Pain: Items go missing"/>
          <p:cNvSpPr txBox="1"/>
          <p:nvPr/>
        </p:nvSpPr>
        <p:spPr>
          <a:xfrm>
            <a:off x="1260000" y="6696000"/>
            <a:ext cx="4347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go missing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knows who borrowed what.</a:t>
            </a:r>
            <a:endParaRPr lang="en-US" sz="2700" dirty="0"/>
          </a:p>
        </p:txBody>
      </p:sp>
      <p:sp>
        <p:nvSpPr>
          <p:cNvPr id="17" name="Shape 12"/>
          <p:cNvSpPr/>
          <p:nvPr/>
        </p:nvSpPr>
        <p:spPr>
          <a:xfrm>
            <a:off x="5895000" y="6588000"/>
            <a:ext cx="4707000" cy="1476000"/>
          </a:xfrm>
          <a:prstGeom prst="roundRect">
            <a:avLst>
              <a:gd name="adj" fmla="val 487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895000" y="6588000"/>
            <a:ext cx="90000" cy="1476000"/>
          </a:xfrm>
          <a:prstGeom prst="rect">
            <a:avLst>
              <a:gd name="adj" fmla="val 120000"/>
            </a:avLst>
          </a:prstGeom>
          <a:solidFill>
            <a:srgbClr val="D62598"/>
          </a:solidFill>
          <a:ln w="12700">
            <a:solidFill>
              <a:srgbClr val="D62598"/>
            </a:solidFill>
            <a:prstDash val="solid"/>
          </a:ln>
        </p:spPr>
      </p:sp>
      <p:sp>
        <p:nvSpPr>
          <p:cNvPr id="19" name="Pain: No single view"/>
          <p:cNvSpPr txBox="1"/>
          <p:nvPr/>
        </p:nvSpPr>
        <p:spPr>
          <a:xfrm>
            <a:off x="6147000" y="6696000"/>
            <a:ext cx="4347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view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is spread across rooms and campuses.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10782000" y="6588000"/>
            <a:ext cx="4707000" cy="1476000"/>
          </a:xfrm>
          <a:prstGeom prst="roundRect">
            <a:avLst>
              <a:gd name="adj" fmla="val 487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782000" y="6588000"/>
            <a:ext cx="90000" cy="1476000"/>
          </a:xfrm>
          <a:prstGeom prst="rect">
            <a:avLst>
              <a:gd name="adj" fmla="val 120000"/>
            </a:avLst>
          </a:prstGeom>
          <a:solidFill>
            <a:srgbClr val="D62598"/>
          </a:solidFill>
          <a:ln w="12700">
            <a:solidFill>
              <a:srgbClr val="D62598"/>
            </a:solidFill>
            <a:prstDash val="solid"/>
          </a:ln>
        </p:spPr>
      </p:sp>
      <p:sp>
        <p:nvSpPr>
          <p:cNvPr id="22" name="Pain: Stock expires"/>
          <p:cNvSpPr txBox="1"/>
          <p:nvPr/>
        </p:nvSpPr>
        <p:spPr>
          <a:xfrm>
            <a:off x="11034000" y="6696000"/>
            <a:ext cx="4347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expires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First-aid kits and chemicals go out of date.</a:t>
            </a:r>
            <a:endParaRPr lang="en-US" sz="2700" dirty="0"/>
          </a:p>
        </p:txBody>
      </p:sp>
      <p:sp>
        <p:nvSpPr>
          <p:cNvPr id="23" name="Shape 18"/>
          <p:cNvSpPr/>
          <p:nvPr/>
        </p:nvSpPr>
        <p:spPr>
          <a:xfrm>
            <a:off x="15669000" y="6588000"/>
            <a:ext cx="4707000" cy="1476000"/>
          </a:xfrm>
          <a:prstGeom prst="roundRect">
            <a:avLst>
              <a:gd name="adj" fmla="val 487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5669000" y="6588000"/>
            <a:ext cx="90000" cy="1476000"/>
          </a:xfrm>
          <a:prstGeom prst="rect">
            <a:avLst>
              <a:gd name="adj" fmla="val 120000"/>
            </a:avLst>
          </a:prstGeom>
          <a:solidFill>
            <a:srgbClr val="D62598"/>
          </a:solidFill>
          <a:ln w="12700">
            <a:solidFill>
              <a:srgbClr val="D62598"/>
            </a:solidFill>
            <a:prstDash val="solid"/>
          </a:ln>
        </p:spPr>
      </p:sp>
      <p:sp>
        <p:nvSpPr>
          <p:cNvPr id="25" name="Pain: One size doesn't fit"/>
          <p:cNvSpPr txBox="1"/>
          <p:nvPr/>
        </p:nvSpPr>
        <p:spPr>
          <a:xfrm>
            <a:off x="15921000" y="6696000"/>
            <a:ext cx="4347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size doesn't fit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violin and an iPad need different details.</a:t>
            </a:r>
            <a:endParaRPr lang="en-US" sz="2700" dirty="0"/>
          </a:p>
        </p:txBody>
      </p:sp>
      <p:sp>
        <p:nvSpPr>
          <p:cNvPr id="26" name="Shape 21"/>
          <p:cNvSpPr/>
          <p:nvPr/>
        </p:nvSpPr>
        <p:spPr>
          <a:xfrm>
            <a:off x="1008000" y="8244000"/>
            <a:ext cx="19368000" cy="3708000"/>
          </a:xfrm>
          <a:prstGeom prst="roundRect">
            <a:avLst>
              <a:gd name="adj" fmla="val 4854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pic>
        <p:nvPicPr>
          <p:cNvPr id="27" name="Before / after diagram" descr="C:\Users\Aaron\AppData\Local\Temp\claude\C--Users-Aaron-Desktop-ict30017-P01-inventory-management-schools\97f81feb-cc42-48d2-a7dc-9fa67447c472\scratchpad\pptx\before_af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000" y="8352000"/>
            <a:ext cx="18936000" cy="3402404"/>
          </a:xfrm>
          <a:prstGeom prst="rect">
            <a:avLst/>
          </a:prstGeom>
        </p:spPr>
      </p:pic>
      <p:sp>
        <p:nvSpPr>
          <p:cNvPr id="28" name="THE PROCESS heading"/>
          <p:cNvSpPr txBox="1"/>
          <p:nvPr/>
        </p:nvSpPr>
        <p:spPr>
          <a:xfrm>
            <a:off x="1008000" y="12240000"/>
            <a:ext cx="13680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7B57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5200" b="1" spc="100" kern="0" dirty="0">
                <a:solidFill>
                  <a:srgbClr val="7B57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PROCESS</a:t>
            </a:r>
            <a:endParaRPr lang="en-US" sz="6400" dirty="0"/>
          </a:p>
        </p:txBody>
      </p:sp>
      <p:sp>
        <p:nvSpPr>
          <p:cNvPr id="29" name="Text 23"/>
          <p:cNvSpPr txBox="1"/>
          <p:nvPr/>
        </p:nvSpPr>
        <p:spPr>
          <a:xfrm>
            <a:off x="13680000" y="12240000"/>
            <a:ext cx="669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did we approach it?</a:t>
            </a:r>
            <a:endParaRPr lang="en-US" sz="2800" dirty="0"/>
          </a:p>
        </p:txBody>
      </p:sp>
      <p:sp>
        <p:nvSpPr>
          <p:cNvPr id="30" name="Shape 24"/>
          <p:cNvSpPr/>
          <p:nvPr/>
        </p:nvSpPr>
        <p:spPr>
          <a:xfrm>
            <a:off x="1008000" y="13752000"/>
            <a:ext cx="19368000" cy="0"/>
          </a:xfrm>
          <a:prstGeom prst="line">
            <a:avLst/>
          </a:prstGeom>
          <a:noFill/>
          <a:ln w="50800">
            <a:solidFill>
              <a:srgbClr val="7B57CB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08000" y="13302000"/>
            <a:ext cx="900000" cy="900000"/>
          </a:xfrm>
          <a:prstGeom prst="ellipse">
            <a:avLst/>
          </a:prstGeom>
          <a:solidFill>
            <a:srgbClr val="7B57CB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08000" y="13302000"/>
            <a:ext cx="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2400" dirty="0"/>
          </a:p>
        </p:txBody>
      </p:sp>
      <p:sp>
        <p:nvSpPr>
          <p:cNvPr id="33" name="Sprint S1"/>
          <p:cNvSpPr txBox="1"/>
          <p:nvPr/>
        </p:nvSpPr>
        <p:spPr>
          <a:xfrm>
            <a:off x="1008000" y="14292000"/>
            <a:ext cx="3078000" cy="11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design, models, first API</a:t>
            </a:r>
            <a:endParaRPr lang="en-US" sz="2600" dirty="0"/>
          </a:p>
        </p:txBody>
      </p:sp>
      <p:sp>
        <p:nvSpPr>
          <p:cNvPr id="34" name="Shape 28"/>
          <p:cNvSpPr/>
          <p:nvPr/>
        </p:nvSpPr>
        <p:spPr>
          <a:xfrm>
            <a:off x="4266000" y="13302000"/>
            <a:ext cx="900000" cy="900000"/>
          </a:xfrm>
          <a:prstGeom prst="ellipse">
            <a:avLst/>
          </a:prstGeom>
          <a:solidFill>
            <a:srgbClr val="7B57CB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266000" y="13302000"/>
            <a:ext cx="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2400" dirty="0"/>
          </a:p>
        </p:txBody>
      </p:sp>
      <p:sp>
        <p:nvSpPr>
          <p:cNvPr id="36" name="Sprint S2"/>
          <p:cNvSpPr txBox="1"/>
          <p:nvPr/>
        </p:nvSpPr>
        <p:spPr>
          <a:xfrm>
            <a:off x="4266000" y="14292000"/>
            <a:ext cx="3078000" cy="11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+ item instances</a:t>
            </a:r>
            <a:endParaRPr lang="en-US" sz="2600" dirty="0"/>
          </a:p>
        </p:txBody>
      </p:sp>
      <p:sp>
        <p:nvSpPr>
          <p:cNvPr id="37" name="Shape 31"/>
          <p:cNvSpPr/>
          <p:nvPr/>
        </p:nvSpPr>
        <p:spPr>
          <a:xfrm>
            <a:off x="7524000" y="13302000"/>
            <a:ext cx="900000" cy="900000"/>
          </a:xfrm>
          <a:prstGeom prst="ellipse">
            <a:avLst/>
          </a:prstGeom>
          <a:solidFill>
            <a:srgbClr val="7B57CB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524000" y="13302000"/>
            <a:ext cx="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2400" dirty="0"/>
          </a:p>
        </p:txBody>
      </p:sp>
      <p:sp>
        <p:nvSpPr>
          <p:cNvPr id="39" name="Sprint S3"/>
          <p:cNvSpPr txBox="1"/>
          <p:nvPr/>
        </p:nvSpPr>
        <p:spPr>
          <a:xfrm>
            <a:off x="7524000" y="14292000"/>
            <a:ext cx="3078000" cy="11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define their own fields</a:t>
            </a:r>
            <a:endParaRPr lang="en-US" sz="2600" dirty="0"/>
          </a:p>
        </p:txBody>
      </p:sp>
      <p:sp>
        <p:nvSpPr>
          <p:cNvPr id="40" name="Shape 34"/>
          <p:cNvSpPr/>
          <p:nvPr/>
        </p:nvSpPr>
        <p:spPr>
          <a:xfrm>
            <a:off x="10782000" y="13302000"/>
            <a:ext cx="900000" cy="900000"/>
          </a:xfrm>
          <a:prstGeom prst="ellipse">
            <a:avLst/>
          </a:prstGeom>
          <a:solidFill>
            <a:srgbClr val="009CA6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0782000" y="13302000"/>
            <a:ext cx="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</a:t>
            </a:r>
            <a:endParaRPr lang="en-US" sz="2400" dirty="0"/>
          </a:p>
        </p:txBody>
      </p:sp>
      <p:sp>
        <p:nvSpPr>
          <p:cNvPr id="42" name="Sprint S4"/>
          <p:cNvSpPr txBox="1"/>
          <p:nvPr/>
        </p:nvSpPr>
        <p:spPr>
          <a:xfrm>
            <a:off x="10782000" y="14292000"/>
            <a:ext cx="3078000" cy="11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Loans &amp; tags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return, live stock</a:t>
            </a:r>
            <a:endParaRPr lang="en-US" sz="2600" dirty="0"/>
          </a:p>
        </p:txBody>
      </p:sp>
      <p:sp>
        <p:nvSpPr>
          <p:cNvPr id="43" name="Shape 37"/>
          <p:cNvSpPr/>
          <p:nvPr/>
        </p:nvSpPr>
        <p:spPr>
          <a:xfrm>
            <a:off x="14040000" y="13302000"/>
            <a:ext cx="900000" cy="900000"/>
          </a:xfrm>
          <a:prstGeom prst="ellipse">
            <a:avLst/>
          </a:prstGeom>
          <a:solidFill>
            <a:srgbClr val="009CA6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14040000" y="13302000"/>
            <a:ext cx="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2400" dirty="0"/>
          </a:p>
        </p:txBody>
      </p:sp>
      <p:sp>
        <p:nvSpPr>
          <p:cNvPr id="45" name="Sprint S5"/>
          <p:cNvSpPr txBox="1"/>
          <p:nvPr/>
        </p:nvSpPr>
        <p:spPr>
          <a:xfrm>
            <a:off x="14040000" y="14292000"/>
            <a:ext cx="3078000" cy="11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&amp; search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alerts, search, comments</a:t>
            </a:r>
            <a:endParaRPr lang="en-US" sz="2600" dirty="0"/>
          </a:p>
        </p:txBody>
      </p:sp>
      <p:sp>
        <p:nvSpPr>
          <p:cNvPr id="46" name="Shape 40"/>
          <p:cNvSpPr/>
          <p:nvPr/>
        </p:nvSpPr>
        <p:spPr>
          <a:xfrm>
            <a:off x="17298000" y="13302000"/>
            <a:ext cx="900000" cy="900000"/>
          </a:xfrm>
          <a:prstGeom prst="ellipse">
            <a:avLst/>
          </a:prstGeom>
          <a:solidFill>
            <a:srgbClr val="009CA6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17298000" y="13302000"/>
            <a:ext cx="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</a:t>
            </a:r>
            <a:endParaRPr lang="en-US" sz="2400" dirty="0"/>
          </a:p>
        </p:txBody>
      </p:sp>
      <p:sp>
        <p:nvSpPr>
          <p:cNvPr id="48" name="Sprint S6"/>
          <p:cNvSpPr txBox="1"/>
          <p:nvPr/>
        </p:nvSpPr>
        <p:spPr>
          <a:xfrm>
            <a:off x="17298000" y="14292000"/>
            <a:ext cx="3078000" cy="11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handling, tests, Docker</a:t>
            </a:r>
            <a:endParaRPr lang="en-US" sz="2600" dirty="0"/>
          </a:p>
        </p:txBody>
      </p:sp>
      <p:sp>
        <p:nvSpPr>
          <p:cNvPr id="49" name="Text 43"/>
          <p:cNvSpPr txBox="1"/>
          <p:nvPr/>
        </p:nvSpPr>
        <p:spPr>
          <a:xfrm>
            <a:off x="1008000" y="15624000"/>
            <a:ext cx="2592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worked:</a:t>
            </a:r>
            <a:endParaRPr lang="en-US" sz="2400" dirty="0"/>
          </a:p>
        </p:txBody>
      </p:sp>
      <p:sp>
        <p:nvSpPr>
          <p:cNvPr id="50" name="Shape 44"/>
          <p:cNvSpPr/>
          <p:nvPr/>
        </p:nvSpPr>
        <p:spPr>
          <a:xfrm>
            <a:off x="3600000" y="15588000"/>
            <a:ext cx="2055600" cy="46800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3600000" y="15588000"/>
            <a:ext cx="20556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Agile Scrum</a:t>
            </a:r>
            <a:endParaRPr lang="en-US" sz="2200" dirty="0"/>
          </a:p>
        </p:txBody>
      </p:sp>
      <p:sp>
        <p:nvSpPr>
          <p:cNvPr id="52" name="Shape 46"/>
          <p:cNvSpPr/>
          <p:nvPr/>
        </p:nvSpPr>
        <p:spPr>
          <a:xfrm>
            <a:off x="5799600" y="15588000"/>
            <a:ext cx="1022400" cy="46800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5799600" y="15588000"/>
            <a:ext cx="10224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</a:t>
            </a:r>
            <a:endParaRPr lang="en-US" sz="2200" dirty="0"/>
          </a:p>
        </p:txBody>
      </p:sp>
      <p:sp>
        <p:nvSpPr>
          <p:cNvPr id="54" name="Shape 48"/>
          <p:cNvSpPr/>
          <p:nvPr/>
        </p:nvSpPr>
        <p:spPr>
          <a:xfrm>
            <a:off x="6966000" y="15588000"/>
            <a:ext cx="3384000" cy="46800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6966000" y="15588000"/>
            <a:ext cx="3384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pull requests</a:t>
            </a:r>
            <a:endParaRPr lang="en-US" sz="2200" dirty="0"/>
          </a:p>
        </p:txBody>
      </p:sp>
      <p:sp>
        <p:nvSpPr>
          <p:cNvPr id="56" name="Shape 50"/>
          <p:cNvSpPr/>
          <p:nvPr/>
        </p:nvSpPr>
        <p:spPr>
          <a:xfrm>
            <a:off x="10494000" y="15588000"/>
            <a:ext cx="3531600" cy="46800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10494000" y="15588000"/>
            <a:ext cx="35316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sprint reviews</a:t>
            </a:r>
            <a:endParaRPr lang="en-US" sz="2200" dirty="0"/>
          </a:p>
        </p:txBody>
      </p:sp>
      <p:sp>
        <p:nvSpPr>
          <p:cNvPr id="58" name="Shape 52"/>
          <p:cNvSpPr/>
          <p:nvPr/>
        </p:nvSpPr>
        <p:spPr>
          <a:xfrm>
            <a:off x="14169600" y="15588000"/>
            <a:ext cx="2203200" cy="468000"/>
          </a:xfrm>
          <a:prstGeom prst="roundRect">
            <a:avLst>
              <a:gd name="adj" fmla="val 50000"/>
            </a:avLst>
          </a:prstGeom>
          <a:solidFill>
            <a:srgbClr val="F2F4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14169600" y="15588000"/>
            <a:ext cx="22032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testing</a:t>
            </a:r>
            <a:endParaRPr lang="en-US" sz="2200" dirty="0"/>
          </a:p>
        </p:txBody>
      </p:sp>
      <p:sp>
        <p:nvSpPr>
          <p:cNvPr id="60" name="THE SOLUTION heading"/>
          <p:cNvSpPr txBox="1"/>
          <p:nvPr/>
        </p:nvSpPr>
        <p:spPr>
          <a:xfrm>
            <a:off x="1008000" y="16380000"/>
            <a:ext cx="13680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5200" b="1" spc="100" kern="0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6400" dirty="0"/>
          </a:p>
        </p:txBody>
      </p:sp>
      <p:sp>
        <p:nvSpPr>
          <p:cNvPr id="61" name="Text 55"/>
          <p:cNvSpPr txBox="1"/>
          <p:nvPr/>
        </p:nvSpPr>
        <p:spPr>
          <a:xfrm>
            <a:off x="13680000" y="16380000"/>
            <a:ext cx="669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we develop?</a:t>
            </a:r>
            <a:endParaRPr lang="en-US" sz="2800" dirty="0"/>
          </a:p>
        </p:txBody>
      </p:sp>
      <p:sp>
        <p:nvSpPr>
          <p:cNvPr id="62" name="Shape 56"/>
          <p:cNvSpPr/>
          <p:nvPr/>
        </p:nvSpPr>
        <p:spPr>
          <a:xfrm>
            <a:off x="1008000" y="17352000"/>
            <a:ext cx="4707000" cy="1368000"/>
          </a:xfrm>
          <a:prstGeom prst="roundRect">
            <a:avLst>
              <a:gd name="adj" fmla="val 105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3" name="Stat 40"/>
          <p:cNvSpPr txBox="1"/>
          <p:nvPr/>
        </p:nvSpPr>
        <p:spPr>
          <a:xfrm>
            <a:off x="1224000" y="17352000"/>
            <a:ext cx="4347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FD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 </a:t>
            </a:r>
            <a:pPr indent="0" marL="0">
              <a:buNone/>
            </a:pPr>
            <a:r>
              <a:rPr lang="en-US" sz="2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6400" dirty="0"/>
          </a:p>
        </p:txBody>
      </p:sp>
      <p:sp>
        <p:nvSpPr>
          <p:cNvPr id="64" name="Shape 58"/>
          <p:cNvSpPr/>
          <p:nvPr/>
        </p:nvSpPr>
        <p:spPr>
          <a:xfrm>
            <a:off x="5895000" y="17352000"/>
            <a:ext cx="4707000" cy="1368000"/>
          </a:xfrm>
          <a:prstGeom prst="roundRect">
            <a:avLst>
              <a:gd name="adj" fmla="val 105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5" name="Stat 105"/>
          <p:cNvSpPr txBox="1"/>
          <p:nvPr/>
        </p:nvSpPr>
        <p:spPr>
          <a:xfrm>
            <a:off x="6111000" y="17352000"/>
            <a:ext cx="4347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B49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 </a:t>
            </a:r>
            <a:pPr indent="0" marL="0">
              <a:buNone/>
            </a:pPr>
            <a:r>
              <a:rPr lang="en-US" sz="2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tests</a:t>
            </a:r>
            <a:endParaRPr lang="en-US" sz="6400" dirty="0"/>
          </a:p>
        </p:txBody>
      </p:sp>
      <p:sp>
        <p:nvSpPr>
          <p:cNvPr id="66" name="Shape 60"/>
          <p:cNvSpPr/>
          <p:nvPr/>
        </p:nvSpPr>
        <p:spPr>
          <a:xfrm>
            <a:off x="10782000" y="17352000"/>
            <a:ext cx="4707000" cy="1368000"/>
          </a:xfrm>
          <a:prstGeom prst="roundRect">
            <a:avLst>
              <a:gd name="adj" fmla="val 105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7" name="Stat 13"/>
          <p:cNvSpPr txBox="1"/>
          <p:nvPr/>
        </p:nvSpPr>
        <p:spPr>
          <a:xfrm>
            <a:off x="10998000" y="17352000"/>
            <a:ext cx="4347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06F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</a:t>
            </a:r>
            <a:pPr indent="0" marL="0">
              <a:buNone/>
            </a:pPr>
            <a:r>
              <a:rPr lang="en-US" sz="2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models</a:t>
            </a:r>
            <a:endParaRPr lang="en-US" sz="6400" dirty="0"/>
          </a:p>
        </p:txBody>
      </p:sp>
      <p:sp>
        <p:nvSpPr>
          <p:cNvPr id="68" name="Shape 62"/>
          <p:cNvSpPr/>
          <p:nvPr/>
        </p:nvSpPr>
        <p:spPr>
          <a:xfrm>
            <a:off x="15669000" y="17352000"/>
            <a:ext cx="4707000" cy="1368000"/>
          </a:xfrm>
          <a:prstGeom prst="roundRect">
            <a:avLst>
              <a:gd name="adj" fmla="val 105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9" name="Stat 6"/>
          <p:cNvSpPr txBox="1"/>
          <p:nvPr/>
        </p:nvSpPr>
        <p:spPr>
          <a:xfrm>
            <a:off x="15885000" y="17352000"/>
            <a:ext cx="4347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indent="0" marL="0">
              <a:buNone/>
            </a:pPr>
            <a:r>
              <a:rPr lang="en-US" sz="2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sprints delivered</a:t>
            </a:r>
            <a:endParaRPr lang="en-US" sz="6400" dirty="0"/>
          </a:p>
        </p:txBody>
      </p:sp>
      <p:sp>
        <p:nvSpPr>
          <p:cNvPr id="70" name="Shape 64"/>
          <p:cNvSpPr/>
          <p:nvPr/>
        </p:nvSpPr>
        <p:spPr>
          <a:xfrm>
            <a:off x="1008000" y="18936000"/>
            <a:ext cx="4707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DDDDD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1008000" y="18936000"/>
            <a:ext cx="4707000" cy="90000"/>
          </a:xfrm>
          <a:prstGeom prst="rect">
            <a:avLst>
              <a:gd name="adj" fmla="val 1200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72" name="Feature: Unit tracking"/>
          <p:cNvSpPr txBox="1"/>
          <p:nvPr/>
        </p:nvSpPr>
        <p:spPr>
          <a:xfrm>
            <a:off x="1188000" y="19116000"/>
            <a:ext cx="4383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tracking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physical item, one by one</a:t>
            </a:r>
            <a:endParaRPr lang="en-US" sz="2600" dirty="0"/>
          </a:p>
        </p:txBody>
      </p:sp>
      <p:sp>
        <p:nvSpPr>
          <p:cNvPr id="73" name="Shape 67"/>
          <p:cNvSpPr/>
          <p:nvPr/>
        </p:nvSpPr>
        <p:spPr>
          <a:xfrm>
            <a:off x="5859000" y="18936000"/>
            <a:ext cx="4707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DDDDD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5859000" y="18936000"/>
            <a:ext cx="4707000" cy="90000"/>
          </a:xfrm>
          <a:prstGeom prst="rect">
            <a:avLst>
              <a:gd name="adj" fmla="val 1200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75" name="Feature: Loans &amp; returns"/>
          <p:cNvSpPr txBox="1"/>
          <p:nvPr/>
        </p:nvSpPr>
        <p:spPr>
          <a:xfrm>
            <a:off x="6039000" y="19116000"/>
            <a:ext cx="4383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Loans &amp; returns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updates automatically</a:t>
            </a:r>
            <a:endParaRPr lang="en-US" sz="2600" dirty="0"/>
          </a:p>
        </p:txBody>
      </p:sp>
      <p:sp>
        <p:nvSpPr>
          <p:cNvPr id="76" name="Shape 70"/>
          <p:cNvSpPr/>
          <p:nvPr/>
        </p:nvSpPr>
        <p:spPr>
          <a:xfrm>
            <a:off x="1008000" y="20160000"/>
            <a:ext cx="4707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DDDDD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1008000" y="20160000"/>
            <a:ext cx="4707000" cy="90000"/>
          </a:xfrm>
          <a:prstGeom prst="rect">
            <a:avLst>
              <a:gd name="adj" fmla="val 1200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78" name="Feature: Custom fields"/>
          <p:cNvSpPr txBox="1"/>
          <p:nvPr/>
        </p:nvSpPr>
        <p:spPr>
          <a:xfrm>
            <a:off x="1188000" y="20340000"/>
            <a:ext cx="4383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school adds its own</a:t>
            </a:r>
            <a:endParaRPr lang="en-US" sz="2600" dirty="0"/>
          </a:p>
        </p:txBody>
      </p:sp>
      <p:sp>
        <p:nvSpPr>
          <p:cNvPr id="79" name="Shape 73"/>
          <p:cNvSpPr/>
          <p:nvPr/>
        </p:nvSpPr>
        <p:spPr>
          <a:xfrm>
            <a:off x="5859000" y="20160000"/>
            <a:ext cx="4707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DDDDD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5859000" y="20160000"/>
            <a:ext cx="4707000" cy="90000"/>
          </a:xfrm>
          <a:prstGeom prst="rect">
            <a:avLst>
              <a:gd name="adj" fmla="val 1200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81" name="Feature: Tags &amp; categories"/>
          <p:cNvSpPr txBox="1"/>
          <p:nvPr/>
        </p:nvSpPr>
        <p:spPr>
          <a:xfrm>
            <a:off x="6039000" y="20340000"/>
            <a:ext cx="4383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&amp; categories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 stock your way</a:t>
            </a:r>
            <a:endParaRPr lang="en-US" sz="2600" dirty="0"/>
          </a:p>
        </p:txBody>
      </p:sp>
      <p:sp>
        <p:nvSpPr>
          <p:cNvPr id="82" name="Shape 76"/>
          <p:cNvSpPr/>
          <p:nvPr/>
        </p:nvSpPr>
        <p:spPr>
          <a:xfrm>
            <a:off x="1008000" y="21384000"/>
            <a:ext cx="4707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DDDDD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008000" y="21384000"/>
            <a:ext cx="4707000" cy="90000"/>
          </a:xfrm>
          <a:prstGeom prst="rect">
            <a:avLst>
              <a:gd name="adj" fmla="val 1200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84" name="Feature: Expiry alerts"/>
          <p:cNvSpPr txBox="1"/>
          <p:nvPr/>
        </p:nvSpPr>
        <p:spPr>
          <a:xfrm>
            <a:off x="1188000" y="21564000"/>
            <a:ext cx="4383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alerts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out-of-date stock</a:t>
            </a:r>
            <a:endParaRPr lang="en-US" sz="2600" dirty="0"/>
          </a:p>
        </p:txBody>
      </p:sp>
      <p:sp>
        <p:nvSpPr>
          <p:cNvPr id="85" name="Shape 79"/>
          <p:cNvSpPr/>
          <p:nvPr/>
        </p:nvSpPr>
        <p:spPr>
          <a:xfrm>
            <a:off x="5859000" y="21384000"/>
            <a:ext cx="4707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DDDDD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5859000" y="21384000"/>
            <a:ext cx="4707000" cy="90000"/>
          </a:xfrm>
          <a:prstGeom prst="rect">
            <a:avLst>
              <a:gd name="adj" fmla="val 120000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87" name="Feature: Search &amp; history"/>
          <p:cNvSpPr txBox="1"/>
          <p:nvPr/>
        </p:nvSpPr>
        <p:spPr>
          <a:xfrm>
            <a:off x="6039000" y="21564000"/>
            <a:ext cx="4383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&amp; history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transaction trail</a:t>
            </a:r>
            <a:endParaRPr lang="en-US" sz="2600" dirty="0"/>
          </a:p>
        </p:txBody>
      </p:sp>
      <p:sp>
        <p:nvSpPr>
          <p:cNvPr id="88" name="Shape 82"/>
          <p:cNvSpPr/>
          <p:nvPr/>
        </p:nvSpPr>
        <p:spPr>
          <a:xfrm>
            <a:off x="1008000" y="22680000"/>
            <a:ext cx="9558000" cy="2736000"/>
          </a:xfrm>
          <a:prstGeom prst="roundRect">
            <a:avLst>
              <a:gd name="adj" fmla="val 5263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89" name="Text 83"/>
          <p:cNvSpPr txBox="1"/>
          <p:nvPr/>
        </p:nvSpPr>
        <p:spPr>
          <a:xfrm>
            <a:off x="1188000" y="22824000"/>
            <a:ext cx="72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fits together</a:t>
            </a:r>
            <a:endParaRPr lang="en-US" sz="2600" dirty="0"/>
          </a:p>
        </p:txBody>
      </p:sp>
      <p:sp>
        <p:nvSpPr>
          <p:cNvPr id="90" name="Shape 84"/>
          <p:cNvSpPr/>
          <p:nvPr/>
        </p:nvSpPr>
        <p:spPr>
          <a:xfrm>
            <a:off x="1188000" y="23400000"/>
            <a:ext cx="1872000" cy="1224000"/>
          </a:xfrm>
          <a:prstGeom prst="roundRect">
            <a:avLst>
              <a:gd name="adj" fmla="val 8824"/>
            </a:avLst>
          </a:prstGeom>
          <a:solidFill>
            <a:srgbClr val="7B57CB"/>
          </a:solidFill>
          <a:ln w="12700">
            <a:solidFill>
              <a:srgbClr val="7B57CB"/>
            </a:solidFill>
            <a:prstDash val="solid"/>
          </a:ln>
        </p:spPr>
      </p:sp>
      <p:sp>
        <p:nvSpPr>
          <p:cNvPr id="91" name="Arch: Daymap"/>
          <p:cNvSpPr txBox="1"/>
          <p:nvPr/>
        </p:nvSpPr>
        <p:spPr>
          <a:xfrm>
            <a:off x="1188000" y="23400000"/>
            <a:ext cx="1872000" cy="1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Daymap</a:t>
            </a:r>
            <a:endParaRPr lang="en-US" sz="2400" dirty="0"/>
          </a:p>
        </p:txBody>
      </p:sp>
      <p:sp>
        <p:nvSpPr>
          <p:cNvPr id="92" name="Shape 86"/>
          <p:cNvSpPr/>
          <p:nvPr/>
        </p:nvSpPr>
        <p:spPr>
          <a:xfrm>
            <a:off x="3096000" y="24012000"/>
            <a:ext cx="360000" cy="0"/>
          </a:xfrm>
          <a:prstGeom prst="line">
            <a:avLst/>
          </a:prstGeom>
          <a:noFill/>
          <a:ln w="38100">
            <a:solidFill>
              <a:srgbClr val="262626"/>
            </a:solidFill>
            <a:prstDash val="solid"/>
            <a:tailEnd type="triangle"/>
          </a:ln>
        </p:spPr>
      </p:sp>
      <p:sp>
        <p:nvSpPr>
          <p:cNvPr id="93" name="Shape 87"/>
          <p:cNvSpPr/>
          <p:nvPr/>
        </p:nvSpPr>
        <p:spPr>
          <a:xfrm>
            <a:off x="3492000" y="23400000"/>
            <a:ext cx="1872000" cy="1224000"/>
          </a:xfrm>
          <a:prstGeom prst="roundRect">
            <a:avLst>
              <a:gd name="adj" fmla="val 8824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94" name="Arch: REST API"/>
          <p:cNvSpPr txBox="1"/>
          <p:nvPr/>
        </p:nvSpPr>
        <p:spPr>
          <a:xfrm>
            <a:off x="3492000" y="23400000"/>
            <a:ext cx="1872000" cy="1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2400" dirty="0"/>
          </a:p>
        </p:txBody>
      </p:sp>
      <p:sp>
        <p:nvSpPr>
          <p:cNvPr id="95" name="Shape 89"/>
          <p:cNvSpPr/>
          <p:nvPr/>
        </p:nvSpPr>
        <p:spPr>
          <a:xfrm>
            <a:off x="5400000" y="24012000"/>
            <a:ext cx="360000" cy="0"/>
          </a:xfrm>
          <a:prstGeom prst="line">
            <a:avLst/>
          </a:prstGeom>
          <a:noFill/>
          <a:ln w="38100">
            <a:solidFill>
              <a:srgbClr val="262626"/>
            </a:solidFill>
            <a:prstDash val="solid"/>
            <a:tailEnd type="triangle"/>
          </a:ln>
        </p:spPr>
      </p:sp>
      <p:sp>
        <p:nvSpPr>
          <p:cNvPr id="96" name="Shape 90"/>
          <p:cNvSpPr/>
          <p:nvPr/>
        </p:nvSpPr>
        <p:spPr>
          <a:xfrm>
            <a:off x="5796000" y="23400000"/>
            <a:ext cx="1872000" cy="1224000"/>
          </a:xfrm>
          <a:prstGeom prst="roundRect">
            <a:avLst>
              <a:gd name="adj" fmla="val 8824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97" name="Arch: Data layer"/>
          <p:cNvSpPr txBox="1"/>
          <p:nvPr/>
        </p:nvSpPr>
        <p:spPr>
          <a:xfrm>
            <a:off x="5796000" y="23400000"/>
            <a:ext cx="1872000" cy="1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2400" dirty="0"/>
          </a:p>
        </p:txBody>
      </p:sp>
      <p:sp>
        <p:nvSpPr>
          <p:cNvPr id="98" name="Shape 92"/>
          <p:cNvSpPr/>
          <p:nvPr/>
        </p:nvSpPr>
        <p:spPr>
          <a:xfrm>
            <a:off x="7704000" y="24012000"/>
            <a:ext cx="360000" cy="0"/>
          </a:xfrm>
          <a:prstGeom prst="line">
            <a:avLst/>
          </a:prstGeom>
          <a:noFill/>
          <a:ln w="38100">
            <a:solidFill>
              <a:srgbClr val="262626"/>
            </a:solidFill>
            <a:prstDash val="solid"/>
            <a:tailEnd type="triangle"/>
          </a:ln>
        </p:spPr>
      </p:sp>
      <p:sp>
        <p:nvSpPr>
          <p:cNvPr id="99" name="Shape 93"/>
          <p:cNvSpPr/>
          <p:nvPr/>
        </p:nvSpPr>
        <p:spPr>
          <a:xfrm>
            <a:off x="8100000" y="23400000"/>
            <a:ext cx="1872000" cy="1224000"/>
          </a:xfrm>
          <a:prstGeom prst="roundRect">
            <a:avLst>
              <a:gd name="adj" fmla="val 8824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00" name="Arch: SQL Server"/>
          <p:cNvSpPr txBox="1"/>
          <p:nvPr/>
        </p:nvSpPr>
        <p:spPr>
          <a:xfrm>
            <a:off x="8100000" y="23400000"/>
            <a:ext cx="1872000" cy="1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</a:t>
            </a:r>
            <a:endParaRPr lang="en-US" sz="2400" dirty="0"/>
          </a:p>
        </p:txBody>
      </p:sp>
      <p:sp>
        <p:nvSpPr>
          <p:cNvPr id="101" name="Text 95"/>
          <p:cNvSpPr txBox="1"/>
          <p:nvPr/>
        </p:nvSpPr>
        <p:spPr>
          <a:xfrm>
            <a:off x="1188000" y="24840000"/>
            <a:ext cx="918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 · .NET 8 · EF Core · Docker</a:t>
            </a:r>
            <a:endParaRPr lang="en-US" sz="2200" dirty="0"/>
          </a:p>
        </p:txBody>
      </p:sp>
      <p:sp>
        <p:nvSpPr>
          <p:cNvPr id="102" name="Shape 96"/>
          <p:cNvSpPr/>
          <p:nvPr/>
        </p:nvSpPr>
        <p:spPr>
          <a:xfrm>
            <a:off x="10818000" y="18936000"/>
            <a:ext cx="9558000" cy="6012000"/>
          </a:xfrm>
          <a:prstGeom prst="roundRect">
            <a:avLst>
              <a:gd name="adj" fmla="val 2395"/>
            </a:avLst>
          </a:prstGeom>
          <a:solidFill>
            <a:srgbClr val="FAFAFA"/>
          </a:solidFill>
          <a:ln w="19050">
            <a:solidFill>
              <a:srgbClr val="CFD4D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03" name="Shape 97"/>
          <p:cNvSpPr/>
          <p:nvPr/>
        </p:nvSpPr>
        <p:spPr>
          <a:xfrm>
            <a:off x="10818000" y="18936000"/>
            <a:ext cx="9558000" cy="432000"/>
          </a:xfrm>
          <a:prstGeom prst="roundRect">
            <a:avLst>
              <a:gd name="adj" fmla="val 33333"/>
            </a:avLst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10818000" y="19152000"/>
            <a:ext cx="9558000" cy="216000"/>
          </a:xfrm>
          <a:prstGeom prst="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10998000" y="19071000"/>
            <a:ext cx="162000" cy="16200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06" name="Shape 100"/>
          <p:cNvSpPr/>
          <p:nvPr/>
        </p:nvSpPr>
        <p:spPr>
          <a:xfrm>
            <a:off x="11250000" y="19071000"/>
            <a:ext cx="162000" cy="16200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07" name="Shape 101"/>
          <p:cNvSpPr/>
          <p:nvPr/>
        </p:nvSpPr>
        <p:spPr>
          <a:xfrm>
            <a:off x="11502000" y="19071000"/>
            <a:ext cx="162000" cy="16200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8" name="Text 102"/>
          <p:cNvSpPr txBox="1"/>
          <p:nvPr/>
        </p:nvSpPr>
        <p:spPr>
          <a:xfrm>
            <a:off x="11898000" y="18936000"/>
            <a:ext cx="72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live API (Swagger)</a:t>
            </a:r>
            <a:endParaRPr lang="en-US" sz="2200" dirty="0"/>
          </a:p>
        </p:txBody>
      </p:sp>
      <p:pic>
        <p:nvPicPr>
          <p:cNvPr id="109" name="Swagger screenshot" descr="C:\Users\Aaron\AppData\Local\Temp\claude\C--Users-Aaron-Desktop-ict30017-P01-inventory-management-schools\97f81feb-cc42-48d2-a7dc-9fa67447c472\scratchpad\pptx\swagger_items_crop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836000" y="19368000"/>
            <a:ext cx="9522000" cy="5535302"/>
          </a:xfrm>
          <a:prstGeom prst="rect">
            <a:avLst/>
          </a:prstGeom>
        </p:spPr>
      </p:pic>
      <p:sp>
        <p:nvSpPr>
          <p:cNvPr id="110" name="Text 103"/>
          <p:cNvSpPr txBox="1"/>
          <p:nvPr/>
        </p:nvSpPr>
        <p:spPr>
          <a:xfrm>
            <a:off x="10818000" y="25020000"/>
            <a:ext cx="955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expiring and expired items, live</a:t>
            </a:r>
            <a:endParaRPr lang="en-US" sz="2200" dirty="0"/>
          </a:p>
        </p:txBody>
      </p:sp>
      <p:sp>
        <p:nvSpPr>
          <p:cNvPr id="111" name="Shape 104"/>
          <p:cNvSpPr/>
          <p:nvPr/>
        </p:nvSpPr>
        <p:spPr>
          <a:xfrm>
            <a:off x="1008000" y="25632000"/>
            <a:ext cx="19368000" cy="1296000"/>
          </a:xfrm>
          <a:prstGeom prst="roundRect">
            <a:avLst>
              <a:gd name="adj" fmla="val 11111"/>
            </a:avLst>
          </a:prstGeom>
          <a:solidFill>
            <a:srgbClr val="009CA6"/>
          </a:solidFill>
          <a:ln w="12700">
            <a:solidFill>
              <a:srgbClr val="009CA6"/>
            </a:solidFill>
            <a:prstDash val="solid"/>
          </a:ln>
        </p:spPr>
      </p:sp>
      <p:sp>
        <p:nvSpPr>
          <p:cNvPr id="112" name="Why it matters"/>
          <p:cNvSpPr txBox="1"/>
          <p:nvPr/>
        </p:nvSpPr>
        <p:spPr>
          <a:xfrm>
            <a:off x="1296000" y="25632000"/>
            <a:ext cx="18792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</a:t>
            </a:r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chasing equipment, fewer lost and expired items, and one trusted record of everything a school owns.</a:t>
            </a:r>
            <a:endParaRPr lang="en-US" sz="3000" dirty="0"/>
          </a:p>
        </p:txBody>
      </p:sp>
      <p:sp>
        <p:nvSpPr>
          <p:cNvPr id="113" name="Shape 106"/>
          <p:cNvSpPr/>
          <p:nvPr/>
        </p:nvSpPr>
        <p:spPr>
          <a:xfrm>
            <a:off x="1008000" y="27396000"/>
            <a:ext cx="19368000" cy="0"/>
          </a:xfrm>
          <a:prstGeom prst="line">
            <a:avLst/>
          </a:prstGeom>
          <a:noFill/>
          <a:ln w="29210">
            <a:solidFill>
              <a:srgbClr val="DDDDDD"/>
            </a:solidFill>
            <a:prstDash val="solid"/>
          </a:ln>
        </p:spPr>
      </p:sp>
      <p:sp>
        <p:nvSpPr>
          <p:cNvPr id="114" name="TEAM P01"/>
          <p:cNvSpPr txBox="1"/>
          <p:nvPr/>
        </p:nvSpPr>
        <p:spPr>
          <a:xfrm>
            <a:off x="1008000" y="27936000"/>
            <a:ext cx="9000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spc="150" kern="0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P01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Aaron Francis · Sarah Agate · Shreyas Cheguri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 Kiu Cheung · Thivyaaharan Parthiepan · Antonio Prince</a:t>
            </a:r>
            <a:endParaRPr lang="en-US" sz="2200" dirty="0"/>
          </a:p>
        </p:txBody>
      </p:sp>
      <p:sp>
        <p:nvSpPr>
          <p:cNvPr id="115" name="SUPERVISOR"/>
          <p:cNvSpPr txBox="1"/>
          <p:nvPr/>
        </p:nvSpPr>
        <p:spPr>
          <a:xfrm>
            <a:off x="10260000" y="27936000"/>
            <a:ext cx="3600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spc="150" kern="0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Naveed Ali</a:t>
            </a:r>
            <a:endParaRPr lang="en-US" sz="2200" dirty="0"/>
          </a:p>
        </p:txBody>
      </p:sp>
      <p:sp>
        <p:nvSpPr>
          <p:cNvPr id="116" name="CLIENT"/>
          <p:cNvSpPr txBox="1"/>
          <p:nvPr/>
        </p:nvSpPr>
        <p:spPr>
          <a:xfrm>
            <a:off x="14256000" y="27936000"/>
            <a:ext cx="3960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spc="150" kern="0" dirty="0">
                <a:solidFill>
                  <a:srgbClr val="009C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Harry Macheda</a:t>
            </a:r>
            <a:endParaRPr lang="en-US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Civica (Daymap)</a:t>
            </a:r>
            <a:endParaRPr lang="en-US" sz="2200" dirty="0"/>
          </a:p>
        </p:txBody>
      </p:sp>
      <p:sp>
        <p:nvSpPr>
          <p:cNvPr id="117" name="Shape 110"/>
          <p:cNvSpPr/>
          <p:nvPr/>
        </p:nvSpPr>
        <p:spPr>
          <a:xfrm>
            <a:off x="18720000" y="27612000"/>
            <a:ext cx="1656000" cy="1656000"/>
          </a:xfrm>
          <a:prstGeom prst="rect">
            <a:avLst>
              <a:gd name="adj" fmla="val 6522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8" name="Category code (keep bottom-right)"/>
          <p:cNvSpPr txBox="1"/>
          <p:nvPr/>
        </p:nvSpPr>
        <p:spPr>
          <a:xfrm>
            <a:off x="18720000" y="27612000"/>
            <a:ext cx="1656000" cy="16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UG_ICT_P01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UG_ICT_P01 Poster</dc:title>
  <dc:subject>PptxGenJS Presentation</dc:subject>
  <dc:creator>Team UG_ICT_P01</dc:creator>
  <cp:lastModifiedBy>Team UG_ICT_P01</cp:lastModifiedBy>
  <cp:revision>1</cp:revision>
  <dcterms:created xsi:type="dcterms:W3CDTF">2026-10-15T09:58:51Z</dcterms:created>
  <dcterms:modified xsi:type="dcterms:W3CDTF">2026-10-15T09:58:51Z</dcterms:modified>
</cp:coreProperties>
</file>
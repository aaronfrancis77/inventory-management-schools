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19250" y="-1905000"/>
            <a:ext cx="4000500" cy="4000500"/>
          </a:xfrm>
          <a:prstGeom prst="ellipse">
            <a:avLst/>
          </a:prstGeom>
          <a:solidFill>
            <a:srgbClr val="009CA6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06000" y="5238750"/>
            <a:ext cx="3429000" cy="3429000"/>
          </a:xfrm>
          <a:prstGeom prst="ellipse">
            <a:avLst/>
          </a:prstGeom>
          <a:solidFill>
            <a:srgbClr val="7B57CB">
              <a:alpha val="7000"/>
            </a:srgbClr>
          </a:solidFill>
          <a:ln/>
        </p:spPr>
      </p:sp>
      <p:pic>
        <p:nvPicPr>
          <p:cNvPr id="4" name="Image 0" descr="C:\Users\Aaron\AppData\Local\Temp\claude\C--Users-Aaron-Desktop-ict30017-P01-inventory-management-schools\97f81feb-cc42-48d2-a7dc-9fa67447c472\scratchpad\pptx\day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300" y="323850"/>
            <a:ext cx="823913" cy="28575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90650" y="342900"/>
            <a:ext cx="152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350" dirty="0"/>
          </a:p>
        </p:txBody>
      </p:sp>
      <p:pic>
        <p:nvPicPr>
          <p:cNvPr id="6" name="Image 1" descr="C:\Users\Aaron\AppData\Local\Temp\claude\C--Users-Aaron-Desktop-ict30017-P01-inventory-management-schools\97f81feb-cc42-48d2-a7dc-9fa67447c472\scratchpad\pptx\civic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150" y="352425"/>
            <a:ext cx="510540" cy="228600"/>
          </a:xfrm>
          <a:prstGeom prst="rect">
            <a:avLst/>
          </a:prstGeom>
        </p:spPr>
      </p:pic>
      <p:sp>
        <p:nvSpPr>
          <p:cNvPr id="7" name="Title"/>
          <p:cNvSpPr txBox="1"/>
          <p:nvPr/>
        </p:nvSpPr>
        <p:spPr>
          <a:xfrm>
            <a:off x="476250" y="685800"/>
            <a:ext cx="63436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Daymap </a:t>
            </a:r>
            <a:pPr indent="0" marL="0">
              <a:buNone/>
            </a:pPr>
            <a:r>
              <a:rPr lang="en-US" sz="4000" b="1" spc="-100" kern="0" dirty="0">
                <a:solidFill>
                  <a:srgbClr val="009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</a:t>
            </a:r>
            <a:endParaRPr lang="en-US" sz="4000" dirty="0"/>
          </a:p>
        </p:txBody>
      </p:sp>
      <p:sp>
        <p:nvSpPr>
          <p:cNvPr id="8" name="Hook"/>
          <p:cNvSpPr txBox="1"/>
          <p:nvPr/>
        </p:nvSpPr>
        <p:spPr>
          <a:xfrm>
            <a:off x="495300" y="1257300"/>
            <a:ext cx="63436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B57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asking "who has the projector?" Know where every school asset is, who has it, and when it's due back.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495300" y="1847850"/>
            <a:ext cx="6343650" cy="666750"/>
          </a:xfrm>
          <a:prstGeom prst="roundRect">
            <a:avLst>
              <a:gd name="adj" fmla="val 14286"/>
            </a:avLst>
          </a:prstGeom>
          <a:solidFill>
            <a:srgbClr val="F2F4F5"/>
          </a:solidFill>
          <a:ln w="12700">
            <a:solidFill>
              <a:srgbClr val="F2F4F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95300" y="1847850"/>
            <a:ext cx="1428750" cy="666750"/>
          </a:xfrm>
          <a:prstGeom prst="roundRect">
            <a:avLst>
              <a:gd name="adj" fmla="val 14286"/>
            </a:avLst>
          </a:prstGeom>
          <a:solidFill>
            <a:srgbClr val="D62598"/>
          </a:solidFill>
          <a:ln w="12700">
            <a:solidFill>
              <a:srgbClr val="D62598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809750" y="1847850"/>
            <a:ext cx="114300" cy="666750"/>
          </a:xfrm>
          <a:prstGeom prst="rect">
            <a:avLst/>
          </a:prstGeom>
          <a:solidFill>
            <a:srgbClr val="D62598"/>
          </a:solidFill>
          <a:ln w="12700">
            <a:solidFill>
              <a:srgbClr val="D62598"/>
            </a:solidFill>
            <a:prstDash val="solid"/>
          </a:ln>
        </p:spPr>
      </p:sp>
      <p:sp>
        <p:nvSpPr>
          <p:cNvPr id="12" name="THE PROBLEM"/>
          <p:cNvSpPr txBox="1"/>
          <p:nvPr/>
        </p:nvSpPr>
        <p:spPr>
          <a:xfrm>
            <a:off x="628650" y="1847850"/>
            <a:ext cx="1238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2057400" y="1847850"/>
            <a:ext cx="4667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Schools track laptops, lab kits and instruments with spreadsheets, paper and memory, so items go missing and stock expires unnoticed.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95300" y="2609850"/>
            <a:ext cx="6343650" cy="666750"/>
          </a:xfrm>
          <a:prstGeom prst="roundRect">
            <a:avLst>
              <a:gd name="adj" fmla="val 14286"/>
            </a:avLst>
          </a:prstGeom>
          <a:solidFill>
            <a:srgbClr val="F2F4F5"/>
          </a:solidFill>
          <a:ln w="12700">
            <a:solidFill>
              <a:srgbClr val="F2F4F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95300" y="2609850"/>
            <a:ext cx="1428750" cy="666750"/>
          </a:xfrm>
          <a:prstGeom prst="roundRect">
            <a:avLst>
              <a:gd name="adj" fmla="val 14286"/>
            </a:avLst>
          </a:prstGeom>
          <a:solidFill>
            <a:srgbClr val="009CA6"/>
          </a:solidFill>
          <a:ln w="12700">
            <a:solidFill>
              <a:srgbClr val="009CA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809750" y="2609850"/>
            <a:ext cx="114300" cy="666750"/>
          </a:xfrm>
          <a:prstGeom prst="rect">
            <a:avLst/>
          </a:prstGeom>
          <a:solidFill>
            <a:srgbClr val="009CA6"/>
          </a:solidFill>
          <a:ln w="12700">
            <a:solidFill>
              <a:srgbClr val="009CA6"/>
            </a:solidFill>
            <a:prstDash val="solid"/>
          </a:ln>
        </p:spPr>
      </p:sp>
      <p:sp>
        <p:nvSpPr>
          <p:cNvPr id="17" name="WHAT WE BUILT"/>
          <p:cNvSpPr txBox="1"/>
          <p:nvPr/>
        </p:nvSpPr>
        <p:spPr>
          <a:xfrm>
            <a:off x="628650" y="2609850"/>
            <a:ext cx="1238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2057400" y="2609850"/>
            <a:ext cx="4667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inventory system for Civica's Daymap platform: every item and unit, loans and returns, custom fields, tags, expiry alerts and search.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95300" y="3371850"/>
            <a:ext cx="6343650" cy="1524000"/>
          </a:xfrm>
          <a:prstGeom prst="roundRect">
            <a:avLst>
              <a:gd name="adj" fmla="val 6250"/>
            </a:avLst>
          </a:prstGeom>
          <a:solidFill>
            <a:srgbClr val="7B57CB"/>
          </a:solidFill>
          <a:ln w="12700">
            <a:solidFill>
              <a:srgbClr val="7B57CB"/>
            </a:solidFill>
            <a:prstDash val="solid"/>
          </a:ln>
        </p:spPr>
      </p:sp>
      <p:sp>
        <p:nvSpPr>
          <p:cNvPr id="20" name="Benefits heading"/>
          <p:cNvSpPr txBox="1"/>
          <p:nvPr/>
        </p:nvSpPr>
        <p:spPr>
          <a:xfrm>
            <a:off x="628650" y="3448050"/>
            <a:ext cx="3810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SCHOOLS GAIN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628650" y="3752850"/>
            <a:ext cx="1962150" cy="1028700"/>
          </a:xfrm>
          <a:prstGeom prst="roundRect">
            <a:avLst>
              <a:gd name="adj" fmla="val 7407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2" name="Benefit: Save staff time"/>
          <p:cNvSpPr txBox="1"/>
          <p:nvPr/>
        </p:nvSpPr>
        <p:spPr>
          <a:xfrm>
            <a:off x="723900" y="3829050"/>
            <a:ext cx="1771650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staff time</a:t>
            </a:r>
            <a:endParaRPr lang="en-US" sz="135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who has any item and when it's due back.</a:t>
            </a:r>
            <a:endParaRPr lang="en-US" sz="1350" dirty="0"/>
          </a:p>
        </p:txBody>
      </p:sp>
      <p:sp>
        <p:nvSpPr>
          <p:cNvPr id="23" name="Shape 19"/>
          <p:cNvSpPr/>
          <p:nvPr/>
        </p:nvSpPr>
        <p:spPr>
          <a:xfrm>
            <a:off x="2686050" y="3752850"/>
            <a:ext cx="1962150" cy="1028700"/>
          </a:xfrm>
          <a:prstGeom prst="roundRect">
            <a:avLst>
              <a:gd name="adj" fmla="val 7407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4" name="Benefit: Fewer losses"/>
          <p:cNvSpPr txBox="1"/>
          <p:nvPr/>
        </p:nvSpPr>
        <p:spPr>
          <a:xfrm>
            <a:off x="2781300" y="3829050"/>
            <a:ext cx="1771650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losses</a:t>
            </a:r>
            <a:endParaRPr lang="en-US" sz="135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Overdue loans and expiring stock are flagged early.</a:t>
            </a:r>
            <a:endParaRPr lang="en-US" sz="1350" dirty="0"/>
          </a:p>
        </p:txBody>
      </p:sp>
      <p:sp>
        <p:nvSpPr>
          <p:cNvPr id="25" name="Shape 21"/>
          <p:cNvSpPr/>
          <p:nvPr/>
        </p:nvSpPr>
        <p:spPr>
          <a:xfrm>
            <a:off x="4743450" y="3752850"/>
            <a:ext cx="1962150" cy="1028700"/>
          </a:xfrm>
          <a:prstGeom prst="roundRect">
            <a:avLst>
              <a:gd name="adj" fmla="val 7407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6" name="Benefit: One trusted record"/>
          <p:cNvSpPr txBox="1"/>
          <p:nvPr/>
        </p:nvSpPr>
        <p:spPr>
          <a:xfrm>
            <a:off x="4838700" y="3829050"/>
            <a:ext cx="1771650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trusted record</a:t>
            </a:r>
            <a:endParaRPr lang="en-US" sz="135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item on every campus, set up the way each school works.</a:t>
            </a:r>
            <a:endParaRPr lang="en-US" sz="1350" dirty="0"/>
          </a:p>
        </p:txBody>
      </p:sp>
      <p:sp>
        <p:nvSpPr>
          <p:cNvPr id="27" name="Shape 23"/>
          <p:cNvSpPr/>
          <p:nvPr/>
        </p:nvSpPr>
        <p:spPr>
          <a:xfrm>
            <a:off x="495300" y="5010150"/>
            <a:ext cx="2051050" cy="990600"/>
          </a:xfrm>
          <a:prstGeom prst="roundRect">
            <a:avLst>
              <a:gd name="adj" fmla="val 9615"/>
            </a:avLst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8" name="Highlight 40"/>
          <p:cNvSpPr txBox="1"/>
          <p:nvPr/>
        </p:nvSpPr>
        <p:spPr>
          <a:xfrm>
            <a:off x="628650" y="5105400"/>
            <a:ext cx="178435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3FD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endpoints across the full item lifecycle</a:t>
            </a:r>
            <a:endParaRPr lang="en-US" sz="2200" dirty="0"/>
          </a:p>
        </p:txBody>
      </p:sp>
      <p:sp>
        <p:nvSpPr>
          <p:cNvPr id="29" name="Shape 25"/>
          <p:cNvSpPr/>
          <p:nvPr/>
        </p:nvSpPr>
        <p:spPr>
          <a:xfrm>
            <a:off x="2641600" y="5010150"/>
            <a:ext cx="2051050" cy="990600"/>
          </a:xfrm>
          <a:prstGeom prst="roundRect">
            <a:avLst>
              <a:gd name="adj" fmla="val 9615"/>
            </a:avLst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30" name="Highlight 105"/>
          <p:cNvSpPr txBox="1"/>
          <p:nvPr/>
        </p:nvSpPr>
        <p:spPr>
          <a:xfrm>
            <a:off x="2774950" y="5105400"/>
            <a:ext cx="178435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B49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</a:t>
            </a:r>
            <a:endParaRPr 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passing unit tests</a:t>
            </a:r>
            <a:endParaRPr lang="en-US" sz="2200" dirty="0"/>
          </a:p>
        </p:txBody>
      </p:sp>
      <p:sp>
        <p:nvSpPr>
          <p:cNvPr id="31" name="Shape 27"/>
          <p:cNvSpPr/>
          <p:nvPr/>
        </p:nvSpPr>
        <p:spPr>
          <a:xfrm>
            <a:off x="4787900" y="5010150"/>
            <a:ext cx="2051050" cy="990600"/>
          </a:xfrm>
          <a:prstGeom prst="roundRect">
            <a:avLst>
              <a:gd name="adj" fmla="val 9615"/>
            </a:avLst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32" name="Highlight Any item"/>
          <p:cNvSpPr txBox="1"/>
          <p:nvPr/>
        </p:nvSpPr>
        <p:spPr>
          <a:xfrm>
            <a:off x="4921250" y="5105400"/>
            <a:ext cx="178435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F8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item</a:t>
            </a:r>
            <a:endParaRPr 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fields fit a violin or an iPad</a:t>
            </a:r>
            <a:endParaRPr lang="en-US" sz="2200" dirty="0"/>
          </a:p>
        </p:txBody>
      </p:sp>
      <p:sp>
        <p:nvSpPr>
          <p:cNvPr id="33" name="Shape 29"/>
          <p:cNvSpPr/>
          <p:nvPr/>
        </p:nvSpPr>
        <p:spPr>
          <a:xfrm>
            <a:off x="7219950" y="323850"/>
            <a:ext cx="4476750" cy="457200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CFD4D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12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7219950" y="323850"/>
            <a:ext cx="4476750" cy="247650"/>
          </a:xfrm>
          <a:prstGeom prst="roundRect">
            <a:avLst>
              <a:gd name="adj" fmla="val 38462"/>
            </a:avLst>
          </a:prstGeom>
          <a:solidFill>
            <a:srgbClr val="E9ECE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7219950" y="476250"/>
            <a:ext cx="4476750" cy="95250"/>
          </a:xfrm>
          <a:prstGeom prst="rect">
            <a:avLst/>
          </a:prstGeom>
          <a:solidFill>
            <a:srgbClr val="E9ECE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7315200" y="400050"/>
            <a:ext cx="95250" cy="9525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37" name="Shape 33"/>
          <p:cNvSpPr/>
          <p:nvPr/>
        </p:nvSpPr>
        <p:spPr>
          <a:xfrm>
            <a:off x="7467600" y="400050"/>
            <a:ext cx="95250" cy="9525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38" name="Shape 34"/>
          <p:cNvSpPr/>
          <p:nvPr/>
        </p:nvSpPr>
        <p:spPr>
          <a:xfrm>
            <a:off x="7620000" y="400050"/>
            <a:ext cx="95250" cy="9525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39" name="Text 35"/>
          <p:cNvSpPr txBox="1"/>
          <p:nvPr/>
        </p:nvSpPr>
        <p:spPr>
          <a:xfrm>
            <a:off x="7867650" y="361950"/>
            <a:ext cx="3714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localhost/swagger · DaymapInventory API</a:t>
            </a:r>
            <a:endParaRPr lang="en-US" sz="850" dirty="0"/>
          </a:p>
        </p:txBody>
      </p:sp>
      <p:pic>
        <p:nvPicPr>
          <p:cNvPr id="40" name="Swagger screenshot" descr="C:\Users\Aaron\AppData\Local\Temp\claude\C--Users-Aaron-Desktop-ict30017-P01-inventory-management-schools\97f81feb-cc42-48d2-a7dc-9fa67447c472\scratchpad\pptx\swagger_top_cro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9475" y="571500"/>
            <a:ext cx="4457700" cy="4210050"/>
          </a:xfrm>
          <a:prstGeom prst="rect">
            <a:avLst/>
          </a:prstGeom>
        </p:spPr>
      </p:pic>
      <p:sp>
        <p:nvSpPr>
          <p:cNvPr id="41" name="Text 36"/>
          <p:cNvSpPr txBox="1"/>
          <p:nvPr/>
        </p:nvSpPr>
        <p:spPr>
          <a:xfrm>
            <a:off x="7219950" y="4991100"/>
            <a:ext cx="447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working API, documented in Swagger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325677" y="5295900"/>
            <a:ext cx="1510665" cy="247650"/>
          </a:xfrm>
          <a:prstGeom prst="roundRect">
            <a:avLst>
              <a:gd name="adj" fmla="val 50000"/>
            </a:avLst>
          </a:prstGeom>
          <a:solidFill>
            <a:srgbClr val="F2F4F5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43" name="Text 38"/>
          <p:cNvSpPr txBox="1"/>
          <p:nvPr/>
        </p:nvSpPr>
        <p:spPr>
          <a:xfrm>
            <a:off x="7325677" y="5295900"/>
            <a:ext cx="151066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ASP.NET Core · .NET 8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893492" y="5295900"/>
            <a:ext cx="1447800" cy="247650"/>
          </a:xfrm>
          <a:prstGeom prst="roundRect">
            <a:avLst>
              <a:gd name="adj" fmla="val 50000"/>
            </a:avLst>
          </a:prstGeom>
          <a:solidFill>
            <a:srgbClr val="F2F4F5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45" name="Text 40"/>
          <p:cNvSpPr txBox="1"/>
          <p:nvPr/>
        </p:nvSpPr>
        <p:spPr>
          <a:xfrm>
            <a:off x="8893492" y="5295900"/>
            <a:ext cx="1447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Server + EF Core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10398442" y="5295900"/>
            <a:ext cx="567690" cy="247650"/>
          </a:xfrm>
          <a:prstGeom prst="roundRect">
            <a:avLst>
              <a:gd name="adj" fmla="val 50000"/>
            </a:avLst>
          </a:prstGeom>
          <a:solidFill>
            <a:srgbClr val="F2F4F5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47" name="Text 42"/>
          <p:cNvSpPr txBox="1"/>
          <p:nvPr/>
        </p:nvSpPr>
        <p:spPr>
          <a:xfrm>
            <a:off x="10398442" y="5295900"/>
            <a:ext cx="56769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11023282" y="5295900"/>
            <a:ext cx="567690" cy="247650"/>
          </a:xfrm>
          <a:prstGeom prst="roundRect">
            <a:avLst>
              <a:gd name="adj" fmla="val 50000"/>
            </a:avLst>
          </a:prstGeom>
          <a:solidFill>
            <a:srgbClr val="F2F4F5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49" name="Text 44"/>
          <p:cNvSpPr txBox="1"/>
          <p:nvPr/>
        </p:nvSpPr>
        <p:spPr>
          <a:xfrm>
            <a:off x="11023282" y="5295900"/>
            <a:ext cx="56769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MSTest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891588" y="5610225"/>
            <a:ext cx="1133475" cy="247650"/>
          </a:xfrm>
          <a:prstGeom prst="roundRect">
            <a:avLst>
              <a:gd name="adj" fmla="val 50000"/>
            </a:avLst>
          </a:prstGeom>
          <a:solidFill>
            <a:srgbClr val="F2F4F5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51" name="Text 46"/>
          <p:cNvSpPr txBox="1"/>
          <p:nvPr/>
        </p:nvSpPr>
        <p:spPr>
          <a:xfrm>
            <a:off x="8891588" y="5610225"/>
            <a:ext cx="11334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Scrum sprints</a:t>
            </a:r>
            <a:endParaRPr lang="en-US" sz="1000" dirty="0"/>
          </a:p>
        </p:txBody>
      </p:sp>
      <p:sp>
        <p:nvSpPr>
          <p:cNvPr id="52" name="Text 47"/>
          <p:cNvSpPr txBox="1"/>
          <p:nvPr/>
        </p:nvSpPr>
        <p:spPr>
          <a:xfrm>
            <a:off x="495300" y="6477000"/>
            <a:ext cx="476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UG_ICT_P01 · Swinburne ICT Project B · CapEx26</a:t>
            </a:r>
            <a:endParaRPr lang="en-US" sz="900" dirty="0"/>
          </a:p>
        </p:txBody>
      </p:sp>
      <p:sp>
        <p:nvSpPr>
          <p:cNvPr id="53" name="Text 48"/>
          <p:cNvSpPr txBox="1"/>
          <p:nvPr/>
        </p:nvSpPr>
        <p:spPr>
          <a:xfrm>
            <a:off x="8572500" y="6477000"/>
            <a:ext cx="3124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Client: Harry Macheda, Civica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UG_ICT_P01 Pitch</dc:title>
  <dc:subject>PptxGenJS Presentation</dc:subject>
  <dc:creator>Team UG_ICT_P01</dc:creator>
  <cp:lastModifiedBy>Team UG_ICT_P01</cp:lastModifiedBy>
  <cp:revision>1</cp:revision>
  <dcterms:created xsi:type="dcterms:W3CDTF">2026-10-17T12:46:05Z</dcterms:created>
  <dcterms:modified xsi:type="dcterms:W3CDTF">2026-10-17T12:46:05Z</dcterms:modified>
</cp:coreProperties>
</file>